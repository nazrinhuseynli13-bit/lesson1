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4" r:id="rId1"/>
  </p:sldMasterIdLst>
  <p:notesMasterIdLst>
    <p:notesMasterId r:id="rId35"/>
  </p:notesMasterIdLst>
  <p:sldIdLst>
    <p:sldId id="256" r:id="rId2"/>
    <p:sldId id="259" r:id="rId3"/>
    <p:sldId id="264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72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4" r:id="rId22"/>
    <p:sldId id="285" r:id="rId23"/>
    <p:sldId id="286" r:id="rId24"/>
    <p:sldId id="287" r:id="rId25"/>
    <p:sldId id="288" r:id="rId26"/>
    <p:sldId id="289" r:id="rId27"/>
    <p:sldId id="290" r:id="rId28"/>
    <p:sldId id="291" r:id="rId29"/>
    <p:sldId id="292" r:id="rId30"/>
    <p:sldId id="293" r:id="rId31"/>
    <p:sldId id="294" r:id="rId32"/>
    <p:sldId id="295" r:id="rId33"/>
    <p:sldId id="296" r:id="rId34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36"/>
      <p:bold r:id="rId37"/>
      <p:italic r:id="rId38"/>
      <p:boldItalic r:id="rId39"/>
    </p:embeddedFont>
    <p:embeddedFont>
      <p:font typeface="Montserrat" panose="00000500000000000000" pitchFamily="2" charset="-52"/>
      <p:regular r:id="rId40"/>
      <p:bold r:id="rId41"/>
      <p:italic r:id="rId42"/>
      <p:boldItalic r:id="rId43"/>
    </p:embeddedFont>
    <p:embeddedFont>
      <p:font typeface="Montserrat Black" panose="00000A00000000000000" pitchFamily="2" charset="-52"/>
      <p:bold r:id="rId44"/>
      <p:boldItalic r:id="rId45"/>
    </p:embeddedFont>
    <p:embeddedFont>
      <p:font typeface="Montserrat ExtraBold" panose="00000900000000000000" pitchFamily="2" charset="-52"/>
      <p:bold r:id="rId46"/>
      <p:boldItalic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16D95D4-5E96-408E-BDB5-42D1FBE3105A}">
  <a:tblStyle styleId="{716D95D4-5E96-408E-BDB5-42D1FBE3105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8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7.fntdata"/><Relationship Id="rId47" Type="http://schemas.openxmlformats.org/officeDocument/2006/relationships/font" Target="fonts/font12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9.fntdata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font" Target="fonts/font8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46" Type="http://schemas.openxmlformats.org/officeDocument/2006/relationships/font" Target="fonts/font11.fntdata"/><Relationship Id="rId20" Type="http://schemas.openxmlformats.org/officeDocument/2006/relationships/slide" Target="slides/slide19.xml"/><Relationship Id="rId41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him Huseynov" userId="5c75ed6757465dfb" providerId="LiveId" clId="{EA42048A-7C5B-48D4-905B-44B28AA2696E}"/>
    <pc:docChg chg="undo custSel addSld delSld modSld sldOrd">
      <pc:chgData name="Rahim Huseynov" userId="5c75ed6757465dfb" providerId="LiveId" clId="{EA42048A-7C5B-48D4-905B-44B28AA2696E}" dt="2026-09-14T14:18:24.070" v="3"/>
      <pc:docMkLst>
        <pc:docMk/>
      </pc:docMkLst>
      <pc:sldChg chg="ord">
        <pc:chgData name="Rahim Huseynov" userId="5c75ed6757465dfb" providerId="LiveId" clId="{EA42048A-7C5B-48D4-905B-44B28AA2696E}" dt="2026-09-14T14:18:24.070" v="3"/>
        <pc:sldMkLst>
          <pc:docMk/>
          <pc:sldMk cId="0" sldId="275"/>
        </pc:sldMkLst>
      </pc:sldChg>
      <pc:sldChg chg="new del">
        <pc:chgData name="Rahim Huseynov" userId="5c75ed6757465dfb" providerId="LiveId" clId="{EA42048A-7C5B-48D4-905B-44B28AA2696E}" dt="2026-09-14T14:04:00.890" v="1" actId="680"/>
        <pc:sldMkLst>
          <pc:docMk/>
          <pc:sldMk cId="3587467631" sldId="29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533520" y="764280"/>
            <a:ext cx="6704640" cy="37713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5" name="Google Shape;5;n"/>
          <p:cNvSpPr txBox="1">
            <a:spLocks noGrp="1"/>
          </p:cNvSpPr>
          <p:nvPr>
            <p:ph type="hdr" idx="3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6" name="Google Shape;6;n"/>
          <p:cNvSpPr txBox="1">
            <a:spLocks noGrp="1"/>
          </p:cNvSpPr>
          <p:nvPr>
            <p:ph type="dt" idx="10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z-Latn" sz="1400" b="0" i="0" u="none" strike="noStrike" cap="non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4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9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0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2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3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4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5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6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7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9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0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21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2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0" name="Google Shape;36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23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4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25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26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8" name="Google Shape;388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27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29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30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5" name="Google Shape;425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31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32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6" name="Google Shape;446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33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34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35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36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37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38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4" name="Google Shape;524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39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0" name="Google Shape;540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40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41:notes"/>
          <p:cNvSpPr txBox="1">
            <a:spLocks noGrp="1"/>
          </p:cNvSpPr>
          <p:nvPr>
            <p:ph type="body" idx="1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63588"/>
            <a:ext cx="6704013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x">
  <p:cSld name="TITLE_AND_BODY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" type="twoObj">
  <p:cSld name="TWO_OBJECT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entered Text" type="objOnly">
  <p:cSld name="OBJECT_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subTitle" idx="1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and Content" type="twoObjAndObj">
  <p:cSld name="TWO_OBJECTS_AND_OBJEC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8"/>
          <p:cNvSpPr txBox="1"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body" idx="1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body" idx="2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body" idx="3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Content and 2 Content" type="objAndTwoObj">
  <p:cSld name="OBJECT_AND_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body" idx="1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body" idx="2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body" idx="3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over Content" type="twoObjOverTx">
  <p:cSld name="TWO_OBJECTS_OVER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 txBox="1"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body" idx="1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body" idx="3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 over Content" type="objOverTx">
  <p:cSld name="OBJECT_OVER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body" idx="1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2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4 Content" type="fourObj">
  <p:cSld name="FOUR_OBJECTS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 txBox="1">
            <a:spLocks noGrp="1"/>
          </p:cNvSpPr>
          <p:nvPr>
            <p:ph type="body" idx="1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body" idx="2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2"/>
          <p:cNvSpPr txBox="1">
            <a:spLocks noGrp="1"/>
          </p:cNvSpPr>
          <p:nvPr>
            <p:ph type="body" idx="3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body" idx="4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6 Content">
  <p:cSld name="Title, 6 Conten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body" idx="1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body" idx="2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body" idx="3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4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body" idx="5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body" idx="6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/>
          <p:nvPr/>
        </p:nvSpPr>
        <p:spPr>
          <a:xfrm>
            <a:off x="-264960" y="2167560"/>
            <a:ext cx="28080" cy="1872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body" idx="1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mozilla.org/en-US/docs/Web/HTML/Element/hr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0"/>
          <p:cNvSpPr/>
          <p:nvPr/>
        </p:nvSpPr>
        <p:spPr>
          <a:xfrm>
            <a:off x="0" y="0"/>
            <a:ext cx="4571640" cy="51433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40"/>
          <p:cNvSpPr/>
          <p:nvPr/>
        </p:nvSpPr>
        <p:spPr>
          <a:xfrm>
            <a:off x="403200" y="1575000"/>
            <a:ext cx="4211640" cy="1627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3200" b="0" i="0" u="none" strike="noStrike" cap="none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HTML-səhifə</a:t>
            </a:r>
            <a:endParaRPr sz="32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40"/>
          <p:cNvSpPr/>
          <p:nvPr/>
        </p:nvSpPr>
        <p:spPr>
          <a:xfrm>
            <a:off x="403200" y="1316520"/>
            <a:ext cx="4211640" cy="22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200" b="0" i="0" u="none" strike="noStrike" cap="none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Dərs 2.</a:t>
            </a:r>
            <a:endParaRPr sz="1200" b="0" i="0" u="none" strike="noStrike" cap="none" dirty="0"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40"/>
          <p:cNvSpPr/>
          <p:nvPr/>
        </p:nvSpPr>
        <p:spPr>
          <a:xfrm>
            <a:off x="360000" y="3554999"/>
            <a:ext cx="4211640" cy="618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400" b="0" i="0" u="none" strike="noStrike" cap="none" dirty="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</a:t>
            </a:r>
            <a:endParaRPr sz="1400" b="0" i="0" u="none" strike="noStrike" cap="none" dirty="0"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400" b="0" i="0" u="none" strike="noStrike" cap="none" dirty="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HTML </a:t>
            </a:r>
            <a:r>
              <a:rPr lang="az-Latn" dirty="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nişanlama</a:t>
            </a:r>
            <a:r>
              <a:rPr lang="az-Latn" sz="1400" b="0" i="0" u="none" strike="noStrike" cap="none" dirty="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dili</a:t>
            </a:r>
            <a:br>
              <a:rPr lang="az-Latn" sz="1800" b="0" i="0" u="none" strike="noStrike" cap="none" dirty="0">
                <a:latin typeface="Arial"/>
                <a:ea typeface="Arial"/>
                <a:cs typeface="Arial"/>
                <a:sym typeface="Arial"/>
              </a:rPr>
            </a:br>
            <a:br>
              <a:rPr lang="az-Latn" sz="1800" b="0" i="0" u="none" strike="noStrike" cap="none" dirty="0">
                <a:latin typeface="Arial"/>
                <a:ea typeface="Arial"/>
                <a:cs typeface="Arial"/>
                <a:sym typeface="Arial"/>
              </a:rPr>
            </a:br>
            <a:br>
              <a:rPr lang="az-Latn" sz="1800" b="0" i="0" u="none" strike="noStrike" cap="none" dirty="0">
                <a:latin typeface="Arial"/>
                <a:ea typeface="Arial"/>
                <a:cs typeface="Arial"/>
                <a:sym typeface="Arial"/>
              </a:rPr>
            </a:br>
            <a:endParaRPr sz="14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1640" y="0"/>
            <a:ext cx="4572360" cy="514331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43"/>
          <p:cNvSpPr/>
          <p:nvPr/>
        </p:nvSpPr>
        <p:spPr>
          <a:xfrm>
            <a:off x="368640" y="360000"/>
            <a:ext cx="8286840" cy="4423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4800" b="0" i="0" u="none" strike="noStrike" cap="none">
                <a:solidFill>
                  <a:srgbClr val="43434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Sayt</a:t>
            </a:r>
            <a:r>
              <a:rPr lang="az-Latn" sz="4800" b="0" i="0" u="none" strike="noStrike" cap="none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— </a:t>
            </a:r>
            <a:br>
              <a:rPr lang="az-Latn" sz="1800" b="0" i="0" u="none" strike="noStrike" cap="none">
                <a:latin typeface="Arial"/>
                <a:ea typeface="Arial"/>
                <a:cs typeface="Arial"/>
                <a:sym typeface="Arial"/>
              </a:rPr>
            </a:br>
            <a:r>
              <a:rPr lang="az-Latn" sz="3000" b="0" i="0" u="none" strike="noStrike" cap="none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bu, bir və ya bir neçə veb-səhifədir.</a:t>
            </a:r>
            <a:endParaRPr sz="3000" b="0" i="0" u="none" strike="noStrike" cap="none"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43"/>
          <p:cNvSpPr/>
          <p:nvPr/>
        </p:nvSpPr>
        <p:spPr>
          <a:xfrm>
            <a:off x="8784000" y="4457880"/>
            <a:ext cx="192600" cy="1944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43"/>
          <p:cNvSpPr/>
          <p:nvPr/>
        </p:nvSpPr>
        <p:spPr>
          <a:xfrm>
            <a:off x="361800" y="2255760"/>
            <a:ext cx="5790960" cy="252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Hər səhifədə müxtəlif növ məlumatlar var: mətn, şəkillər, videolar və s.</a:t>
            </a: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8"/>
          <p:cNvSpPr/>
          <p:nvPr/>
        </p:nvSpPr>
        <p:spPr>
          <a:xfrm>
            <a:off x="368640" y="360000"/>
            <a:ext cx="8209080" cy="4423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4400" b="0" i="0" u="none" strike="noStrike" cap="none">
                <a:solidFill>
                  <a:srgbClr val="43434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HTML</a:t>
            </a:r>
            <a:r>
              <a:rPr lang="az-Latn" sz="4400" b="0" i="0" u="none" strike="noStrike" cap="none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r>
              <a:rPr lang="az-Latn" sz="2800" b="0" i="0" u="none" strike="noStrike" cap="none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(Hyper Text Markup Language) —</a:t>
            </a:r>
            <a:r>
              <a:rPr lang="az-Latn" sz="4800" b="0" i="0" u="none" strike="noStrike" cap="none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r>
              <a:rPr lang="az-Latn" sz="3000" b="0" i="0" u="none" strike="noStrike" cap="none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Veb-səhifədə  </a:t>
            </a:r>
            <a:br>
              <a:rPr lang="az-Latn" sz="1800" b="0" i="0" u="none" strike="noStrike" cap="none">
                <a:latin typeface="Arial"/>
                <a:ea typeface="Arial"/>
                <a:cs typeface="Arial"/>
                <a:sym typeface="Arial"/>
              </a:rPr>
            </a:br>
            <a:r>
              <a:rPr lang="az-Latn" sz="3000" b="0" i="0" u="none" strike="noStrike" cap="none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məlumatın </a:t>
            </a:r>
            <a:br>
              <a:rPr lang="az-Latn" sz="1800" b="0" i="0" u="none" strike="noStrike" cap="none">
                <a:latin typeface="Arial"/>
                <a:ea typeface="Arial"/>
                <a:cs typeface="Arial"/>
                <a:sym typeface="Arial"/>
              </a:rPr>
            </a:br>
            <a:r>
              <a:rPr lang="az-Latn" sz="3000">
                <a:latin typeface="Montserrat ExtraBold"/>
                <a:ea typeface="Montserrat ExtraBold"/>
                <a:cs typeface="Montserrat ExtraBold"/>
                <a:sym typeface="Montserrat ExtraBold"/>
              </a:rPr>
              <a:t>nişanlama</a:t>
            </a:r>
            <a:r>
              <a:rPr lang="az-Latn" sz="3000" b="0" i="0" u="none" strike="noStrike" cap="none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dilidir.</a:t>
            </a:r>
            <a:endParaRPr sz="3000" b="0" i="0" u="none" strike="noStrike" cap="none"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48"/>
          <p:cNvSpPr/>
          <p:nvPr/>
        </p:nvSpPr>
        <p:spPr>
          <a:xfrm>
            <a:off x="8784000" y="4457880"/>
            <a:ext cx="192600" cy="1944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48"/>
          <p:cNvSpPr/>
          <p:nvPr/>
        </p:nvSpPr>
        <p:spPr>
          <a:xfrm>
            <a:off x="361800" y="2887560"/>
            <a:ext cx="7992000" cy="18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HTML sənəd - hər bir elementi</a:t>
            </a:r>
            <a:r>
              <a:rPr lang="az-Latn" sz="2400"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n</a:t>
            </a: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az-Latn" sz="2400" b="0" i="1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teq</a:t>
            </a: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 vasitəsilə təyin olunduğu səhifənin strukturunun təsviridir.</a:t>
            </a: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9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49"/>
          <p:cNvSpPr/>
          <p:nvPr/>
        </p:nvSpPr>
        <p:spPr>
          <a:xfrm>
            <a:off x="360000" y="360000"/>
            <a:ext cx="4211640" cy="44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4200" b="0" i="0" u="none" strike="noStrike" cap="none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HTML-teqlər</a:t>
            </a:r>
            <a:endParaRPr sz="42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891" y="0"/>
            <a:ext cx="5132749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50"/>
          <p:cNvSpPr/>
          <p:nvPr/>
        </p:nvSpPr>
        <p:spPr>
          <a:xfrm>
            <a:off x="368640" y="360000"/>
            <a:ext cx="8194680" cy="2211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4800" b="0" i="0" u="none" strike="noStrike" cap="none">
                <a:solidFill>
                  <a:srgbClr val="43434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Teq:</a:t>
            </a:r>
            <a:r>
              <a:rPr lang="az-Latn" sz="4800" b="0" i="0" u="none" strike="noStrike" cap="none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br>
              <a:rPr lang="az-Latn" sz="1800" b="0" i="0" u="none" strike="noStrike" cap="none">
                <a:latin typeface="Arial"/>
                <a:ea typeface="Arial"/>
                <a:cs typeface="Arial"/>
                <a:sym typeface="Arial"/>
              </a:rPr>
            </a:br>
            <a:r>
              <a:rPr lang="az-Latn" sz="3000" b="0" i="0" u="none" strike="noStrike" cap="none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səhifənin ayrılıqda hər hansı elementini təsvir edir: mətn, şəkil, cədvəl</a:t>
            </a:r>
            <a:br>
              <a:rPr lang="az-Latn" sz="1800" b="0" i="0" u="none" strike="noStrike" cap="none">
                <a:latin typeface="Arial"/>
                <a:ea typeface="Arial"/>
                <a:cs typeface="Arial"/>
                <a:sym typeface="Arial"/>
              </a:rPr>
            </a:br>
            <a:r>
              <a:rPr lang="az-Latn" sz="3000" b="0" i="0" u="none" strike="noStrike" cap="none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və s.</a:t>
            </a:r>
            <a:endParaRPr sz="3000" b="0" i="0" u="none" strike="noStrike" cap="none"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50"/>
          <p:cNvSpPr/>
          <p:nvPr/>
        </p:nvSpPr>
        <p:spPr>
          <a:xfrm>
            <a:off x="8784000" y="4457880"/>
            <a:ext cx="192600" cy="1944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263" name="Google Shape;263;p50"/>
          <p:cNvGraphicFramePr/>
          <p:nvPr/>
        </p:nvGraphicFramePr>
        <p:xfrm>
          <a:off x="2980440" y="3203640"/>
          <a:ext cx="3171950" cy="483436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317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Content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64" name="Google Shape;264;p50"/>
          <p:cNvSpPr/>
          <p:nvPr/>
        </p:nvSpPr>
        <p:spPr>
          <a:xfrm>
            <a:off x="3000600" y="2932920"/>
            <a:ext cx="2630880" cy="344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200" b="0" i="1" u="none" strike="noStrike" cap="non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HTML</a:t>
            </a:r>
            <a:endParaRPr sz="12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51"/>
          <p:cNvSpPr/>
          <p:nvPr/>
        </p:nvSpPr>
        <p:spPr>
          <a:xfrm>
            <a:off x="3000600" y="2932920"/>
            <a:ext cx="2630880" cy="344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200" b="0" i="1" u="none" strike="noStrike" cap="non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HTML</a:t>
            </a:r>
            <a:endParaRPr sz="12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51"/>
          <p:cNvSpPr/>
          <p:nvPr/>
        </p:nvSpPr>
        <p:spPr>
          <a:xfrm>
            <a:off x="8784000" y="4457880"/>
            <a:ext cx="192600" cy="1944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51"/>
          <p:cNvSpPr/>
          <p:nvPr/>
        </p:nvSpPr>
        <p:spPr>
          <a:xfrm>
            <a:off x="1737000" y="1545120"/>
            <a:ext cx="1079640" cy="1079640"/>
          </a:xfrm>
          <a:prstGeom prst="ellipse">
            <a:avLst/>
          </a:prstGeom>
          <a:solidFill>
            <a:srgbClr val="333333"/>
          </a:solidFill>
          <a:ln w="38100" cap="flat" cmpd="sng">
            <a:solidFill>
              <a:srgbClr val="FF78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3300" b="0" i="0" u="none" strike="noStrike" cap="none">
                <a:solidFill>
                  <a:srgbClr val="62C8F3"/>
                </a:solidFill>
                <a:highlight>
                  <a:srgbClr val="333333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az-Latn" sz="3300" b="1" i="0" u="none" strike="noStrike" cap="none">
                <a:solidFill>
                  <a:srgbClr val="62C8F3"/>
                </a:solidFill>
                <a:highlight>
                  <a:srgbClr val="333333"/>
                </a:highlight>
                <a:latin typeface="Consolas"/>
                <a:ea typeface="Consolas"/>
                <a:cs typeface="Consolas"/>
                <a:sym typeface="Consolas"/>
              </a:rPr>
              <a:t>p</a:t>
            </a:r>
            <a:r>
              <a:rPr lang="az-Latn" sz="3300" b="0" i="0" u="none" strike="noStrike" cap="none">
                <a:solidFill>
                  <a:srgbClr val="62C8F3"/>
                </a:solidFill>
                <a:highlight>
                  <a:srgbClr val="333333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33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51"/>
          <p:cNvSpPr/>
          <p:nvPr/>
        </p:nvSpPr>
        <p:spPr>
          <a:xfrm>
            <a:off x="2997000" y="1940400"/>
            <a:ext cx="3149640" cy="423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2400"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Açılış</a:t>
            </a: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 teqi</a:t>
            </a: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73" name="Google Shape;273;p51"/>
          <p:cNvGraphicFramePr/>
          <p:nvPr/>
        </p:nvGraphicFramePr>
        <p:xfrm>
          <a:off x="2980440" y="3203640"/>
          <a:ext cx="3171950" cy="483436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317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Content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74" name="Google Shape;274;p51"/>
          <p:cNvSpPr/>
          <p:nvPr/>
        </p:nvSpPr>
        <p:spPr>
          <a:xfrm>
            <a:off x="2658960" y="2467080"/>
            <a:ext cx="974520" cy="838440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8100" cap="flat" cmpd="sng">
            <a:solidFill>
              <a:srgbClr val="FF7842"/>
            </a:solidFill>
            <a:prstDash val="solid"/>
            <a:round/>
            <a:headEnd type="none" w="sm" len="sm"/>
            <a:tailEnd type="oval" w="med" len="med"/>
          </a:ln>
        </p:spPr>
      </p:sp>
      <p:sp>
        <p:nvSpPr>
          <p:cNvPr id="275" name="Google Shape;275;p51"/>
          <p:cNvSpPr/>
          <p:nvPr/>
        </p:nvSpPr>
        <p:spPr>
          <a:xfrm>
            <a:off x="368640" y="360000"/>
            <a:ext cx="8028000" cy="1079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3600" b="0" i="0" u="none" strike="noStrike" cap="none">
                <a:solidFill>
                  <a:srgbClr val="000000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Qoşa teq</a:t>
            </a:r>
            <a:endParaRPr sz="36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52"/>
          <p:cNvSpPr/>
          <p:nvPr/>
        </p:nvSpPr>
        <p:spPr>
          <a:xfrm>
            <a:off x="368640" y="360000"/>
            <a:ext cx="8028000" cy="1079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3600" b="0" i="0" u="none" strike="noStrike" cap="none">
                <a:solidFill>
                  <a:srgbClr val="000000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Qoşa teq</a:t>
            </a:r>
            <a:endParaRPr sz="36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52"/>
          <p:cNvSpPr/>
          <p:nvPr/>
        </p:nvSpPr>
        <p:spPr>
          <a:xfrm>
            <a:off x="8784000" y="4457880"/>
            <a:ext cx="192600" cy="1944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282" name="Google Shape;282;p52"/>
          <p:cNvGraphicFramePr/>
          <p:nvPr/>
        </p:nvGraphicFramePr>
        <p:xfrm>
          <a:off x="2980440" y="3203640"/>
          <a:ext cx="3171950" cy="483436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317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Content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83" name="Google Shape;283;p52"/>
          <p:cNvSpPr/>
          <p:nvPr/>
        </p:nvSpPr>
        <p:spPr>
          <a:xfrm flipH="1">
            <a:off x="5254920" y="2398320"/>
            <a:ext cx="932760" cy="873000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8100" cap="flat" cmpd="sng">
            <a:solidFill>
              <a:srgbClr val="FF7842"/>
            </a:solidFill>
            <a:prstDash val="solid"/>
            <a:round/>
            <a:headEnd type="none" w="sm" len="sm"/>
            <a:tailEnd type="oval" w="med" len="med"/>
          </a:ln>
        </p:spPr>
      </p:sp>
      <p:sp>
        <p:nvSpPr>
          <p:cNvPr id="284" name="Google Shape;284;p52"/>
          <p:cNvSpPr/>
          <p:nvPr/>
        </p:nvSpPr>
        <p:spPr>
          <a:xfrm>
            <a:off x="6015240" y="1386360"/>
            <a:ext cx="1185120" cy="1185120"/>
          </a:xfrm>
          <a:prstGeom prst="ellipse">
            <a:avLst/>
          </a:prstGeom>
          <a:solidFill>
            <a:srgbClr val="333333"/>
          </a:solidFill>
          <a:ln w="38100" cap="flat" cmpd="sng">
            <a:solidFill>
              <a:srgbClr val="FF78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3000" b="0" i="0" u="none" strike="noStrike" cap="none">
                <a:solidFill>
                  <a:srgbClr val="62C8F3"/>
                </a:solidFill>
                <a:highlight>
                  <a:srgbClr val="333333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az-Latn" sz="3000" b="1" i="0" u="none" strike="noStrike" cap="none">
                <a:solidFill>
                  <a:srgbClr val="62C8F3"/>
                </a:solidFill>
                <a:highlight>
                  <a:srgbClr val="333333"/>
                </a:highlight>
                <a:latin typeface="Consolas"/>
                <a:ea typeface="Consolas"/>
                <a:cs typeface="Consolas"/>
                <a:sym typeface="Consolas"/>
              </a:rPr>
              <a:t>p</a:t>
            </a:r>
            <a:r>
              <a:rPr lang="az-Latn" sz="3000" b="0" i="0" u="none" strike="noStrike" cap="none">
                <a:solidFill>
                  <a:srgbClr val="62C8F3"/>
                </a:solidFill>
                <a:highlight>
                  <a:srgbClr val="333333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30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52"/>
          <p:cNvSpPr/>
          <p:nvPr/>
        </p:nvSpPr>
        <p:spPr>
          <a:xfrm>
            <a:off x="2712840" y="1939680"/>
            <a:ext cx="31497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Bağla</a:t>
            </a:r>
            <a:r>
              <a:rPr lang="az-Latn" sz="2400"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nış</a:t>
            </a: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 teqi</a:t>
            </a: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52"/>
          <p:cNvSpPr/>
          <p:nvPr/>
        </p:nvSpPr>
        <p:spPr>
          <a:xfrm>
            <a:off x="360000" y="4151520"/>
            <a:ext cx="8423640" cy="608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8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Te</a:t>
            </a:r>
            <a:r>
              <a:rPr lang="az-Latn" sz="1800"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q</a:t>
            </a:r>
            <a:r>
              <a:rPr lang="az-Latn" sz="18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 qoşadırsa, həmişə </a:t>
            </a:r>
            <a:r>
              <a:rPr lang="az-Latn" sz="18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 Black"/>
                <a:ea typeface="Montserrat Black"/>
                <a:cs typeface="Montserrat Black"/>
                <a:sym typeface="Montserrat Black"/>
              </a:rPr>
              <a:t>bağlanmalıdır</a:t>
            </a:r>
            <a:r>
              <a:rPr lang="az-Latn" sz="18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sz="18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52"/>
          <p:cNvSpPr/>
          <p:nvPr/>
        </p:nvSpPr>
        <p:spPr>
          <a:xfrm>
            <a:off x="3000600" y="2932920"/>
            <a:ext cx="2630880" cy="344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200" b="0" i="1" u="none" strike="noStrike" cap="non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HTML</a:t>
            </a:r>
            <a:endParaRPr sz="12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53"/>
          <p:cNvSpPr/>
          <p:nvPr/>
        </p:nvSpPr>
        <p:spPr>
          <a:xfrm>
            <a:off x="368640" y="360000"/>
            <a:ext cx="8028000" cy="1079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3600" b="0" i="0" u="none" strike="noStrike" cap="none">
                <a:solidFill>
                  <a:srgbClr val="000000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Teqin </a:t>
            </a:r>
            <a:r>
              <a:rPr lang="az-Latn" sz="3600">
                <a:latin typeface="Montserrat Black"/>
                <a:ea typeface="Montserrat Black"/>
                <a:cs typeface="Montserrat Black"/>
                <a:sym typeface="Montserrat Black"/>
              </a:rPr>
              <a:t>kontenti</a:t>
            </a:r>
            <a:endParaRPr sz="3600" b="0" i="0" u="none" strike="noStrike" cap="none"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53"/>
          <p:cNvSpPr/>
          <p:nvPr/>
        </p:nvSpPr>
        <p:spPr>
          <a:xfrm>
            <a:off x="8784000" y="4457880"/>
            <a:ext cx="192600" cy="1944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294" name="Google Shape;294;p53"/>
          <p:cNvGraphicFramePr/>
          <p:nvPr/>
        </p:nvGraphicFramePr>
        <p:xfrm>
          <a:off x="2980440" y="3203640"/>
          <a:ext cx="3171950" cy="512074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317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Content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95" name="Google Shape;295;p53"/>
          <p:cNvSpPr/>
          <p:nvPr/>
        </p:nvSpPr>
        <p:spPr>
          <a:xfrm>
            <a:off x="3184560" y="2287440"/>
            <a:ext cx="1130400" cy="948960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8100" cap="flat" cmpd="sng">
            <a:solidFill>
              <a:srgbClr val="FF7842"/>
            </a:solidFill>
            <a:prstDash val="solid"/>
            <a:round/>
            <a:headEnd type="none" w="sm" len="sm"/>
            <a:tailEnd type="oval" w="med" len="med"/>
          </a:ln>
        </p:spPr>
      </p:sp>
      <p:sp>
        <p:nvSpPr>
          <p:cNvPr id="296" name="Google Shape;296;p53"/>
          <p:cNvSpPr/>
          <p:nvPr/>
        </p:nvSpPr>
        <p:spPr>
          <a:xfrm>
            <a:off x="1363320" y="1665360"/>
            <a:ext cx="2244600" cy="767520"/>
          </a:xfrm>
          <a:prstGeom prst="roundRect">
            <a:avLst>
              <a:gd name="adj" fmla="val 50000"/>
            </a:avLst>
          </a:prstGeom>
          <a:solidFill>
            <a:srgbClr val="333333"/>
          </a:solidFill>
          <a:ln w="38100" cap="flat" cmpd="sng">
            <a:solidFill>
              <a:srgbClr val="FF78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3300" b="0" i="0" u="none" strike="noStrike" cap="none">
                <a:solidFill>
                  <a:srgbClr val="FFFFFF"/>
                </a:solidFill>
                <a:highlight>
                  <a:srgbClr val="333333"/>
                </a:highlight>
                <a:latin typeface="Consolas"/>
                <a:ea typeface="Consolas"/>
                <a:cs typeface="Consolas"/>
                <a:sym typeface="Consolas"/>
              </a:rPr>
              <a:t>Content</a:t>
            </a:r>
            <a:endParaRPr sz="33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53"/>
          <p:cNvSpPr/>
          <p:nvPr/>
        </p:nvSpPr>
        <p:spPr>
          <a:xfrm>
            <a:off x="3000600" y="2932920"/>
            <a:ext cx="2630880" cy="344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200" b="0" i="1" u="none" strike="noStrike" cap="non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HTML</a:t>
            </a:r>
            <a:endParaRPr sz="12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8784000" y="4457880"/>
            <a:ext cx="192600" cy="1944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54"/>
          <p:cNvSpPr/>
          <p:nvPr/>
        </p:nvSpPr>
        <p:spPr>
          <a:xfrm>
            <a:off x="339840" y="2887560"/>
            <a:ext cx="7444440" cy="18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Elementin </a:t>
            </a:r>
            <a:r>
              <a:rPr lang="az-Latn" sz="2400"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kontenti</a:t>
            </a: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  </a:t>
            </a:r>
            <a:br>
              <a:rPr lang="az-Latn" sz="1800" b="0" i="0" u="none" strike="noStrike" cap="none">
                <a:latin typeface="Arial"/>
                <a:ea typeface="Arial"/>
                <a:cs typeface="Arial"/>
                <a:sym typeface="Arial"/>
              </a:rPr>
            </a:b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nəinki mətn, həm də digər element ola bilər.</a:t>
            </a: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04" name="Google Shape;304;p54"/>
          <p:cNvGraphicFramePr/>
          <p:nvPr/>
        </p:nvGraphicFramePr>
        <p:xfrm>
          <a:off x="360000" y="1307880"/>
          <a:ext cx="5432400" cy="1324684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543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/>
                      </a:b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Content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/>
                      </a:b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Google Shape;305;p54"/>
          <p:cNvSpPr/>
          <p:nvPr/>
        </p:nvSpPr>
        <p:spPr>
          <a:xfrm>
            <a:off x="368640" y="360000"/>
            <a:ext cx="8028000" cy="1079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3600" b="0" i="0" u="none" strike="noStrike" cap="none">
                <a:solidFill>
                  <a:srgbClr val="000000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Teqin </a:t>
            </a:r>
            <a:r>
              <a:rPr lang="az-Latn" sz="3600">
                <a:latin typeface="Montserrat Black"/>
                <a:ea typeface="Montserrat Black"/>
                <a:cs typeface="Montserrat Black"/>
                <a:sym typeface="Montserrat Black"/>
              </a:rPr>
              <a:t>kontenti</a:t>
            </a:r>
            <a:endParaRPr sz="3600" b="0" i="0" u="none" strike="noStrike" cap="none"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54"/>
          <p:cNvSpPr/>
          <p:nvPr/>
        </p:nvSpPr>
        <p:spPr>
          <a:xfrm>
            <a:off x="368640" y="960480"/>
            <a:ext cx="2630880" cy="420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200" b="0" i="1" u="none" strike="noStrike" cap="non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HTML</a:t>
            </a:r>
            <a:endParaRPr sz="12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55"/>
          <p:cNvSpPr/>
          <p:nvPr/>
        </p:nvSpPr>
        <p:spPr>
          <a:xfrm>
            <a:off x="368640" y="360000"/>
            <a:ext cx="8330040" cy="15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3600">
                <a:highlight>
                  <a:srgbClr val="FFFFFF"/>
                </a:highlight>
                <a:latin typeface="Montserrat Black"/>
                <a:ea typeface="Montserrat Black"/>
                <a:cs typeface="Montserrat Black"/>
                <a:sym typeface="Montserrat Black"/>
              </a:rPr>
              <a:t>Tək</a:t>
            </a:r>
            <a:r>
              <a:rPr lang="az-Latn" sz="3600" b="0" i="0" u="none" strike="noStrike" cap="none">
                <a:highlight>
                  <a:srgbClr val="FFFFFF"/>
                </a:highlight>
                <a:latin typeface="Montserrat Black"/>
                <a:ea typeface="Montserrat Black"/>
                <a:cs typeface="Montserrat Black"/>
                <a:sym typeface="Montserrat Black"/>
              </a:rPr>
              <a:t> teq</a:t>
            </a:r>
            <a:endParaRPr sz="3600" b="0" i="0" u="none" strike="noStrike" cap="none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55"/>
          <p:cNvSpPr/>
          <p:nvPr/>
        </p:nvSpPr>
        <p:spPr>
          <a:xfrm>
            <a:off x="8784000" y="4457880"/>
            <a:ext cx="192600" cy="1944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55"/>
          <p:cNvSpPr/>
          <p:nvPr/>
        </p:nvSpPr>
        <p:spPr>
          <a:xfrm>
            <a:off x="368640" y="2898720"/>
            <a:ext cx="810432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2400"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Tək</a:t>
            </a: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 teq qapanma teqinə və </a:t>
            </a:r>
            <a:r>
              <a:rPr lang="az-Latn" sz="2400"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kontentə</a:t>
            </a: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 sahib deyil.</a:t>
            </a: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14" name="Google Shape;314;p55"/>
          <p:cNvGraphicFramePr/>
          <p:nvPr/>
        </p:nvGraphicFramePr>
        <p:xfrm>
          <a:off x="361800" y="1630440"/>
          <a:ext cx="5430950" cy="512074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5430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br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15" name="Google Shape;315;p55"/>
          <p:cNvSpPr/>
          <p:nvPr/>
        </p:nvSpPr>
        <p:spPr>
          <a:xfrm>
            <a:off x="368640" y="1341360"/>
            <a:ext cx="2630880" cy="344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200" b="0" i="1" u="none" strike="noStrike" cap="non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HTML</a:t>
            </a:r>
            <a:endParaRPr sz="12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6"/>
          <p:cNvSpPr/>
          <p:nvPr/>
        </p:nvSpPr>
        <p:spPr>
          <a:xfrm>
            <a:off x="368640" y="360000"/>
            <a:ext cx="8374680" cy="1858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4800" b="0" i="0" u="none" strike="noStrike" cap="none">
                <a:solidFill>
                  <a:srgbClr val="43434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Teqin atributu</a:t>
            </a:r>
            <a:r>
              <a:rPr lang="az-Latn" sz="4800" b="0" i="0" u="none" strike="noStrike" cap="none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— </a:t>
            </a:r>
            <a:br>
              <a:rPr lang="az-Latn" sz="1800" b="0" i="0" u="none" strike="noStrike" cap="none">
                <a:latin typeface="Arial"/>
                <a:ea typeface="Arial"/>
                <a:cs typeface="Arial"/>
                <a:sym typeface="Arial"/>
              </a:rPr>
            </a:br>
            <a:r>
              <a:rPr lang="az-Latn" sz="3000" b="0" i="0" u="none" strike="noStrike" cap="none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qayda olaraq teqə atributun köməyi ilə əlavə parametrlər təyin etmək olur.</a:t>
            </a:r>
            <a:endParaRPr sz="3000" b="0" i="0" u="none" strike="noStrike" cap="none"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56"/>
          <p:cNvSpPr/>
          <p:nvPr/>
        </p:nvSpPr>
        <p:spPr>
          <a:xfrm>
            <a:off x="8784000" y="4457880"/>
            <a:ext cx="192600" cy="1944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322" name="Google Shape;322;p56"/>
          <p:cNvGraphicFramePr/>
          <p:nvPr>
            <p:extLst>
              <p:ext uri="{D42A27DB-BD31-4B8C-83A1-F6EECF244321}">
                <p14:modId xmlns:p14="http://schemas.microsoft.com/office/powerpoint/2010/main" val="1821962786"/>
              </p:ext>
            </p:extLst>
          </p:nvPr>
        </p:nvGraphicFramePr>
        <p:xfrm>
          <a:off x="361800" y="3840480"/>
          <a:ext cx="7749350" cy="942850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7749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942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24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img</a:t>
                      </a:r>
                      <a:r>
                        <a:rPr lang="az-Latn" sz="24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src=</a:t>
                      </a:r>
                      <a:r>
                        <a:rPr lang="az-Latn" sz="24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</a:t>
                      </a:r>
                      <a:r>
                        <a:rPr lang="en-US" sz="24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https://www.codeimmersives.com/wp-content/uploads/2021/04/term1.png</a:t>
                      </a:r>
                      <a:r>
                        <a:rPr lang="az-Latn" sz="24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</a:t>
                      </a:r>
                      <a:r>
                        <a:rPr lang="az-Latn" sz="24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2400" b="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23" name="Google Shape;323;p56"/>
          <p:cNvSpPr/>
          <p:nvPr/>
        </p:nvSpPr>
        <p:spPr>
          <a:xfrm flipH="1">
            <a:off x="1526760" y="3216960"/>
            <a:ext cx="793800" cy="701280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8100" cap="flat" cmpd="sng">
            <a:solidFill>
              <a:srgbClr val="FF7842"/>
            </a:solidFill>
            <a:prstDash val="solid"/>
            <a:round/>
            <a:headEnd type="none" w="sm" len="sm"/>
            <a:tailEnd type="oval" w="med" len="med"/>
          </a:ln>
        </p:spPr>
      </p:sp>
      <p:sp>
        <p:nvSpPr>
          <p:cNvPr id="324" name="Google Shape;324;p56"/>
          <p:cNvSpPr/>
          <p:nvPr/>
        </p:nvSpPr>
        <p:spPr>
          <a:xfrm>
            <a:off x="1759680" y="2743560"/>
            <a:ext cx="2368080" cy="767520"/>
          </a:xfrm>
          <a:prstGeom prst="roundRect">
            <a:avLst>
              <a:gd name="adj" fmla="val 50000"/>
            </a:avLst>
          </a:prstGeom>
          <a:solidFill>
            <a:srgbClr val="333333"/>
          </a:solidFill>
          <a:ln w="38100" cap="flat" cmpd="sng">
            <a:solidFill>
              <a:srgbClr val="FF78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2400" b="0" i="0" u="none" strike="noStrike" cap="none">
                <a:solidFill>
                  <a:srgbClr val="62C8F3"/>
                </a:solidFill>
                <a:highlight>
                  <a:srgbClr val="333333"/>
                </a:highlight>
                <a:latin typeface="Consolas"/>
                <a:ea typeface="Consolas"/>
                <a:cs typeface="Consolas"/>
                <a:sym typeface="Consolas"/>
              </a:rPr>
              <a:t>src=</a:t>
            </a:r>
            <a:r>
              <a:rPr lang="az-Latn" sz="2400" b="0" i="0" u="none" strike="noStrike" cap="none">
                <a:solidFill>
                  <a:srgbClr val="A2FCA2"/>
                </a:solidFill>
                <a:highlight>
                  <a:srgbClr val="333333"/>
                </a:highlight>
                <a:latin typeface="Consolas"/>
                <a:ea typeface="Consolas"/>
                <a:cs typeface="Consolas"/>
                <a:sym typeface="Consolas"/>
              </a:rPr>
              <a:t>"https</a:t>
            </a:r>
            <a:r>
              <a:rPr lang="az-Latn" sz="1100" b="0" i="0" u="none" strike="noStrike" cap="none">
                <a:solidFill>
                  <a:srgbClr val="A2FCA2"/>
                </a:solidFill>
                <a:highlight>
                  <a:srgbClr val="333333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1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56"/>
          <p:cNvSpPr/>
          <p:nvPr/>
        </p:nvSpPr>
        <p:spPr>
          <a:xfrm>
            <a:off x="368640" y="3551040"/>
            <a:ext cx="2630880" cy="344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200" b="0" i="1" u="none" strike="noStrike" cap="non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HTML</a:t>
            </a:r>
            <a:endParaRPr sz="12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58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58"/>
          <p:cNvSpPr/>
          <p:nvPr/>
        </p:nvSpPr>
        <p:spPr>
          <a:xfrm>
            <a:off x="360000" y="360000"/>
            <a:ext cx="4211640" cy="44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4000" b="0" i="0" u="none" strike="noStrike" cap="none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HTML-sənədin</a:t>
            </a:r>
            <a:r>
              <a:rPr lang="az-Latn" sz="2800" b="0" i="0" u="none" strike="noStrike" cap="none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</a:t>
            </a:r>
            <a:r>
              <a:rPr lang="az-Latn" sz="4000" b="0" i="0" u="none" strike="noStrike" cap="none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Strukturu </a:t>
            </a:r>
            <a:endParaRPr sz="40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4182" y="0"/>
            <a:ext cx="4779458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9"/>
          <p:cNvSpPr/>
          <p:nvPr/>
        </p:nvSpPr>
        <p:spPr>
          <a:xfrm>
            <a:off x="8784000" y="4457880"/>
            <a:ext cx="192600" cy="1944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59"/>
          <p:cNvSpPr/>
          <p:nvPr/>
        </p:nvSpPr>
        <p:spPr>
          <a:xfrm>
            <a:off x="6152760" y="991800"/>
            <a:ext cx="2630880" cy="3485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HTML sənəd </a:t>
            </a:r>
            <a:br>
              <a:rPr lang="az-Latn" sz="1800" b="0" i="0" u="none" strike="noStrike" cap="none">
                <a:latin typeface="Arial"/>
                <a:ea typeface="Arial"/>
                <a:cs typeface="Arial"/>
                <a:sym typeface="Arial"/>
              </a:rPr>
            </a:br>
            <a:r>
              <a:rPr lang="az-Latn" sz="1800" b="0" i="0" u="none" strike="noStrike" cap="none">
                <a:solidFill>
                  <a:srgbClr val="000000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doctype</a:t>
            </a: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teqi ilə başlayır, brauzerə qarşısında HTML dilində yazılmış səhifənin olduğunu anlamağa imkan verir.</a:t>
            </a:r>
            <a:endParaRPr sz="18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50" name="Google Shape;350;p59"/>
          <p:cNvGraphicFramePr/>
          <p:nvPr/>
        </p:nvGraphicFramePr>
        <p:xfrm>
          <a:off x="360000" y="991800"/>
          <a:ext cx="5432400" cy="3465725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543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65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800" b="0" u="none" strike="noStrike" cap="none">
                          <a:solidFill>
                            <a:srgbClr val="FC9B9B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&lt;!DOCTYPE html&gt;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60"/>
          <p:cNvSpPr/>
          <p:nvPr/>
        </p:nvSpPr>
        <p:spPr>
          <a:xfrm>
            <a:off x="8784000" y="4457880"/>
            <a:ext cx="192600" cy="1944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60"/>
          <p:cNvSpPr/>
          <p:nvPr/>
        </p:nvSpPr>
        <p:spPr>
          <a:xfrm>
            <a:off x="6152760" y="991800"/>
            <a:ext cx="2630880" cy="3485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 Black"/>
                <a:ea typeface="Montserrat Black"/>
                <a:cs typeface="Montserrat Black"/>
                <a:sym typeface="Montserrat Black"/>
              </a:rPr>
              <a:t>&lt;html&gt; —</a:t>
            </a:r>
            <a:r>
              <a:rPr lang="az-Latn" sz="2400" b="1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bütün səhifənin saxlanıldığı əsas elementi göstərən qoşa teqdir.</a:t>
            </a: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57" name="Google Shape;357;p60"/>
          <p:cNvGraphicFramePr/>
          <p:nvPr/>
        </p:nvGraphicFramePr>
        <p:xfrm>
          <a:off x="360000" y="991800"/>
          <a:ext cx="5432400" cy="3465725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543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65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800" b="0" u="none" strike="noStrike" cap="none">
                          <a:solidFill>
                            <a:srgbClr val="FC9B9B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&lt;!DOCTYPE html&gt;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8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html</a:t>
                      </a:r>
                      <a:r>
                        <a:rPr lang="az-Latn" sz="18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/>
                      </a:br>
                      <a:r>
                        <a:rPr lang="az-Latn" sz="18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...</a:t>
                      </a:r>
                      <a:br>
                        <a:rPr lang="az-Latn" sz="1800" u="none" strike="noStrike" cap="none"/>
                      </a:br>
                      <a:r>
                        <a:rPr lang="az-Latn" sz="18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8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html</a:t>
                      </a:r>
                      <a:r>
                        <a:rPr lang="az-Latn" sz="18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61"/>
          <p:cNvSpPr/>
          <p:nvPr/>
        </p:nvSpPr>
        <p:spPr>
          <a:xfrm>
            <a:off x="8784000" y="4457880"/>
            <a:ext cx="192600" cy="1944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3" name="Google Shape;363;p61"/>
          <p:cNvSpPr/>
          <p:nvPr/>
        </p:nvSpPr>
        <p:spPr>
          <a:xfrm>
            <a:off x="6152760" y="991800"/>
            <a:ext cx="2630880" cy="3485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 Black"/>
                <a:ea typeface="Montserrat Black"/>
                <a:cs typeface="Montserrat Black"/>
                <a:sym typeface="Montserrat Black"/>
              </a:rPr>
              <a:t>lang </a:t>
            </a:r>
            <a:r>
              <a:rPr lang="az-Latn" sz="2400">
                <a:solidFill>
                  <a:schemeClr val="dk1"/>
                </a:solidFill>
                <a:highlight>
                  <a:schemeClr val="lt1"/>
                </a:highlight>
                <a:latin typeface="Montserrat"/>
                <a:ea typeface="Montserrat"/>
                <a:cs typeface="Montserrat"/>
                <a:sym typeface="Montserrat"/>
              </a:rPr>
              <a:t>atributu</a:t>
            </a: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 Black"/>
                <a:ea typeface="Montserrat Black"/>
                <a:cs typeface="Montserrat Black"/>
                <a:sym typeface="Montserrat Black"/>
              </a:rPr>
              <a:t> — </a:t>
            </a: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səhifənin hansı dildə yazıldığını göstərən iki hərfdən ibarət koddur.</a:t>
            </a: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64" name="Google Shape;364;p61"/>
          <p:cNvGraphicFramePr/>
          <p:nvPr>
            <p:extLst>
              <p:ext uri="{D42A27DB-BD31-4B8C-83A1-F6EECF244321}">
                <p14:modId xmlns:p14="http://schemas.microsoft.com/office/powerpoint/2010/main" val="730207759"/>
              </p:ext>
            </p:extLst>
          </p:nvPr>
        </p:nvGraphicFramePr>
        <p:xfrm>
          <a:off x="360000" y="991800"/>
          <a:ext cx="5432400" cy="3465725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543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65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800" b="0" u="none" strike="noStrike" cap="none" dirty="0">
                          <a:solidFill>
                            <a:srgbClr val="FC9B9B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&lt;!DOCTYPE html&gt;</a:t>
                      </a:r>
                      <a:endParaRPr sz="1800" b="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html 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lang=</a:t>
                      </a:r>
                      <a:r>
                        <a:rPr lang="az-Latn" sz="18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</a:t>
                      </a:r>
                      <a:r>
                        <a:rPr lang="az-Latn-AZ" sz="18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en</a:t>
                      </a:r>
                      <a:r>
                        <a:rPr lang="az-Latn" sz="18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...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html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800" b="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62"/>
          <p:cNvSpPr/>
          <p:nvPr/>
        </p:nvSpPr>
        <p:spPr>
          <a:xfrm>
            <a:off x="8784000" y="4457880"/>
            <a:ext cx="192600" cy="1944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62"/>
          <p:cNvSpPr/>
          <p:nvPr/>
        </p:nvSpPr>
        <p:spPr>
          <a:xfrm>
            <a:off x="6152760" y="991800"/>
            <a:ext cx="2630880" cy="3485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 Black"/>
                <a:ea typeface="Montserrat Black"/>
                <a:cs typeface="Montserrat Black"/>
                <a:sym typeface="Montserrat Black"/>
              </a:rPr>
              <a:t>head</a:t>
            </a: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 elementi brauzerin səhifəni düzgün göstərməsinə kömək edən məlumatları</a:t>
            </a:r>
            <a:r>
              <a:rPr lang="az-Latn" sz="2400"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 içərir</a:t>
            </a: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71" name="Google Shape;371;p62"/>
          <p:cNvGraphicFramePr/>
          <p:nvPr>
            <p:extLst>
              <p:ext uri="{D42A27DB-BD31-4B8C-83A1-F6EECF244321}">
                <p14:modId xmlns:p14="http://schemas.microsoft.com/office/powerpoint/2010/main" val="4161164870"/>
              </p:ext>
            </p:extLst>
          </p:nvPr>
        </p:nvGraphicFramePr>
        <p:xfrm>
          <a:off x="360000" y="991800"/>
          <a:ext cx="5432400" cy="3465725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543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65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800" b="0" u="none" strike="noStrike" cap="none" dirty="0">
                          <a:solidFill>
                            <a:srgbClr val="FC9B9B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&lt;!DOCTYPE html&gt;</a:t>
                      </a:r>
                      <a:endParaRPr sz="1800" b="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html 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lang=</a:t>
                      </a:r>
                      <a:r>
                        <a:rPr lang="az-Latn" sz="18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</a:t>
                      </a:r>
                      <a:r>
                        <a:rPr lang="az-Latn-AZ" sz="18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en</a:t>
                      </a:r>
                      <a:r>
                        <a:rPr lang="az-Latn" sz="18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</a:t>
                      </a:r>
                      <a:r>
                        <a:rPr lang="az-Latn" sz="1800" b="0" u="none" strike="noStrike" cap="none" dirty="0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 dirty="0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head</a:t>
                      </a:r>
                      <a:r>
                        <a:rPr lang="az-Latn" sz="1800" b="0" u="none" strike="noStrike" cap="none" dirty="0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  ...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</a:t>
                      </a:r>
                      <a:r>
                        <a:rPr lang="az-Latn" sz="1800" b="0" u="none" strike="noStrike" cap="none" dirty="0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800" b="1" u="none" strike="noStrike" cap="none" dirty="0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head</a:t>
                      </a:r>
                      <a:r>
                        <a:rPr lang="az-Latn" sz="1800" b="0" u="none" strike="noStrike" cap="none" dirty="0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html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800" b="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63"/>
          <p:cNvSpPr/>
          <p:nvPr/>
        </p:nvSpPr>
        <p:spPr>
          <a:xfrm>
            <a:off x="8784000" y="4457880"/>
            <a:ext cx="192600" cy="1944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63"/>
          <p:cNvSpPr/>
          <p:nvPr/>
        </p:nvSpPr>
        <p:spPr>
          <a:xfrm>
            <a:off x="6152760" y="991800"/>
            <a:ext cx="2630880" cy="3485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 Black"/>
                <a:ea typeface="Montserrat Black"/>
                <a:cs typeface="Montserrat Black"/>
                <a:sym typeface="Montserrat Black"/>
              </a:rPr>
              <a:t>&lt;title&gt; </a:t>
            </a: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səhifənin başlığını bildirir.</a:t>
            </a: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78" name="Google Shape;378;p63"/>
          <p:cNvGraphicFramePr/>
          <p:nvPr>
            <p:extLst>
              <p:ext uri="{D42A27DB-BD31-4B8C-83A1-F6EECF244321}">
                <p14:modId xmlns:p14="http://schemas.microsoft.com/office/powerpoint/2010/main" val="533928929"/>
              </p:ext>
            </p:extLst>
          </p:nvPr>
        </p:nvGraphicFramePr>
        <p:xfrm>
          <a:off x="360000" y="991800"/>
          <a:ext cx="5432400" cy="3465725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543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65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800" b="0" u="none" strike="noStrike" cap="none" dirty="0">
                          <a:solidFill>
                            <a:srgbClr val="FC9B9B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&lt;!DOCTYPE html&gt;</a:t>
                      </a:r>
                      <a:endParaRPr sz="1800" b="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html 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lang=</a:t>
                      </a:r>
                      <a:r>
                        <a:rPr lang="az-Latn" sz="18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</a:t>
                      </a:r>
                      <a:r>
                        <a:rPr lang="az-Latn-AZ" sz="18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en</a:t>
                      </a:r>
                      <a:r>
                        <a:rPr lang="az-Latn" sz="18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head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  </a:t>
                      </a:r>
                      <a:r>
                        <a:rPr lang="az-Latn" sz="1800" b="0" u="none" strike="noStrike" cap="none" dirty="0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 dirty="0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title</a:t>
                      </a:r>
                      <a:r>
                        <a:rPr lang="az-Latn" sz="1800" b="0" u="none" strike="noStrike" cap="none" dirty="0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Some text</a:t>
                      </a:r>
                      <a:r>
                        <a:rPr lang="az-Latn" sz="1800" b="0" u="none" strike="noStrike" cap="none" dirty="0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800" b="1" u="none" strike="noStrike" cap="none" dirty="0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title</a:t>
                      </a:r>
                      <a:r>
                        <a:rPr lang="az-Latn" sz="1800" b="0" u="none" strike="noStrike" cap="none" dirty="0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head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html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800" b="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64"/>
          <p:cNvSpPr/>
          <p:nvPr/>
        </p:nvSpPr>
        <p:spPr>
          <a:xfrm>
            <a:off x="8784000" y="4457880"/>
            <a:ext cx="192600" cy="1944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4" name="Google Shape;384;p64"/>
          <p:cNvSpPr/>
          <p:nvPr/>
        </p:nvSpPr>
        <p:spPr>
          <a:xfrm>
            <a:off x="6152760" y="991800"/>
            <a:ext cx="2630880" cy="3485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23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 Black"/>
                <a:ea typeface="Montserrat Black"/>
                <a:cs typeface="Montserrat Black"/>
                <a:sym typeface="Montserrat Black"/>
              </a:rPr>
              <a:t>&lt;meta&gt;</a:t>
            </a:r>
            <a:r>
              <a:rPr lang="az-Latn" sz="23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 - brauzer və axtarış robotları üçün əlavə məlumat </a:t>
            </a:r>
            <a:r>
              <a:rPr lang="az-Latn" sz="2300"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içərir</a:t>
            </a:r>
            <a:r>
              <a:rPr lang="az-Latn" sz="23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sz="23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85" name="Google Shape;385;p64"/>
          <p:cNvGraphicFramePr/>
          <p:nvPr>
            <p:extLst>
              <p:ext uri="{D42A27DB-BD31-4B8C-83A1-F6EECF244321}">
                <p14:modId xmlns:p14="http://schemas.microsoft.com/office/powerpoint/2010/main" val="1430108239"/>
              </p:ext>
            </p:extLst>
          </p:nvPr>
        </p:nvGraphicFramePr>
        <p:xfrm>
          <a:off x="360000" y="991800"/>
          <a:ext cx="5432400" cy="3465725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543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65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800" b="0" u="none" strike="noStrike" cap="none" dirty="0">
                          <a:solidFill>
                            <a:srgbClr val="FC9B9B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&lt;!DOCTYPE html&gt;</a:t>
                      </a:r>
                      <a:endParaRPr sz="1800" b="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html 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lang=</a:t>
                      </a:r>
                      <a:r>
                        <a:rPr lang="az-Latn" sz="18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</a:t>
                      </a:r>
                      <a:r>
                        <a:rPr lang="az-Latn-AZ" sz="18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en</a:t>
                      </a:r>
                      <a:r>
                        <a:rPr lang="az-Latn" sz="18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head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  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title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Some text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title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800" b="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  </a:t>
                      </a:r>
                      <a:r>
                        <a:rPr lang="az-Latn" sz="1800" b="0" u="none" strike="noStrike" cap="none" dirty="0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 dirty="0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meta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charset=</a:t>
                      </a:r>
                      <a:r>
                        <a:rPr lang="az-Latn" sz="18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"UTF-8"</a:t>
                      </a:r>
                      <a:r>
                        <a:rPr lang="az-Latn" sz="1800" b="0" u="none" strike="noStrike" cap="none" dirty="0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head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html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800" b="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5"/>
          <p:cNvSpPr/>
          <p:nvPr/>
        </p:nvSpPr>
        <p:spPr>
          <a:xfrm>
            <a:off x="8784000" y="4457880"/>
            <a:ext cx="192600" cy="1944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p65"/>
          <p:cNvSpPr/>
          <p:nvPr/>
        </p:nvSpPr>
        <p:spPr>
          <a:xfrm>
            <a:off x="6152760" y="991800"/>
            <a:ext cx="2630880" cy="3485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8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 Black"/>
                <a:ea typeface="Montserrat Black"/>
                <a:cs typeface="Montserrat Black"/>
                <a:sym typeface="Montserrat Black"/>
              </a:rPr>
              <a:t>body </a:t>
            </a:r>
            <a:r>
              <a:rPr lang="az-Latn" sz="1800">
                <a:solidFill>
                  <a:schemeClr val="dk1"/>
                </a:solidFill>
                <a:highlight>
                  <a:schemeClr val="lt1"/>
                </a:highlight>
                <a:latin typeface="Montserrat"/>
                <a:ea typeface="Montserrat"/>
                <a:cs typeface="Montserrat"/>
                <a:sym typeface="Montserrat"/>
              </a:rPr>
              <a:t>elementi </a:t>
            </a:r>
            <a:r>
              <a:rPr lang="az-Latn" sz="18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səhifənin görünən hissəsini </a:t>
            </a:r>
            <a:r>
              <a:rPr lang="az-Latn" sz="1800"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içərir</a:t>
            </a:r>
            <a:r>
              <a:rPr lang="az-Latn" sz="18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. Body-də yerləşən bütün elementlər istifadəçi tərəfindən görünür.</a:t>
            </a:r>
            <a:endParaRPr sz="18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92" name="Google Shape;392;p65"/>
          <p:cNvGraphicFramePr/>
          <p:nvPr>
            <p:extLst>
              <p:ext uri="{D42A27DB-BD31-4B8C-83A1-F6EECF244321}">
                <p14:modId xmlns:p14="http://schemas.microsoft.com/office/powerpoint/2010/main" val="1639842913"/>
              </p:ext>
            </p:extLst>
          </p:nvPr>
        </p:nvGraphicFramePr>
        <p:xfrm>
          <a:off x="360000" y="991800"/>
          <a:ext cx="5432400" cy="3465725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543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65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800" b="0" u="none" strike="noStrike" cap="none" dirty="0">
                          <a:solidFill>
                            <a:srgbClr val="FC9B9B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&lt;!DOCTYPE html&gt;</a:t>
                      </a:r>
                      <a:endParaRPr sz="1800" b="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html 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lang=</a:t>
                      </a:r>
                      <a:r>
                        <a:rPr lang="az-Latn" sz="18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</a:t>
                      </a:r>
                      <a:r>
                        <a:rPr lang="az-Latn-AZ" sz="18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en</a:t>
                      </a:r>
                      <a:r>
                        <a:rPr lang="az-Latn" sz="18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head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  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title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Some text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title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800" b="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  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meta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charset=</a:t>
                      </a:r>
                      <a:r>
                        <a:rPr lang="az-Latn" sz="18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"UTF-8"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head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800" b="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</a:t>
                      </a:r>
                      <a:r>
                        <a:rPr lang="az-Latn" sz="1800" b="0" u="none" strike="noStrike" cap="none" dirty="0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 dirty="0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body</a:t>
                      </a:r>
                      <a:r>
                        <a:rPr lang="az-Latn" sz="1800" b="0" u="none" strike="noStrike" cap="none" dirty="0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  ...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</a:t>
                      </a:r>
                      <a:r>
                        <a:rPr lang="az-Latn" sz="1800" b="0" u="none" strike="noStrike" cap="none" dirty="0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800" b="1" u="none" strike="noStrike" cap="none" dirty="0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body</a:t>
                      </a:r>
                      <a:r>
                        <a:rPr lang="az-Latn" sz="1800" b="0" u="none" strike="noStrike" cap="none" dirty="0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html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800" b="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66"/>
          <p:cNvSpPr/>
          <p:nvPr/>
        </p:nvSpPr>
        <p:spPr>
          <a:xfrm>
            <a:off x="8784000" y="4457880"/>
            <a:ext cx="192600" cy="1944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66"/>
          <p:cNvSpPr/>
          <p:nvPr/>
        </p:nvSpPr>
        <p:spPr>
          <a:xfrm>
            <a:off x="5972760" y="991800"/>
            <a:ext cx="3113640" cy="3485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 Black"/>
                <a:ea typeface="Montserrat Black"/>
                <a:cs typeface="Montserrat Black"/>
                <a:sym typeface="Montserrat Black"/>
              </a:rPr>
              <a:t>HTML sənədin</a:t>
            </a: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01"/>
              </a:spcBef>
              <a:spcAft>
                <a:spcPts val="0"/>
              </a:spcAft>
              <a:buNone/>
            </a:pP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 Black"/>
                <a:ea typeface="Montserrat Black"/>
                <a:cs typeface="Montserrat Black"/>
                <a:sym typeface="Montserrat Black"/>
              </a:rPr>
              <a:t>əsas strukturu</a:t>
            </a: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01"/>
              </a:spcBef>
              <a:spcAft>
                <a:spcPts val="0"/>
              </a:spcAft>
              <a:buNone/>
            </a:pPr>
            <a:r>
              <a:rPr lang="az-Latn" sz="2400" b="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belə görünür</a:t>
            </a:r>
            <a:r>
              <a:rPr lang="az-Latn" sz="2400" i="0" u="none" strike="noStrike" cap="none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99" name="Google Shape;399;p66"/>
          <p:cNvGraphicFramePr/>
          <p:nvPr>
            <p:extLst>
              <p:ext uri="{D42A27DB-BD31-4B8C-83A1-F6EECF244321}">
                <p14:modId xmlns:p14="http://schemas.microsoft.com/office/powerpoint/2010/main" val="756436658"/>
              </p:ext>
            </p:extLst>
          </p:nvPr>
        </p:nvGraphicFramePr>
        <p:xfrm>
          <a:off x="360000" y="991800"/>
          <a:ext cx="5432400" cy="3465725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543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65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800" b="0" u="none" strike="noStrike" cap="none" dirty="0">
                          <a:solidFill>
                            <a:srgbClr val="FC9B9B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&lt;!DOCTYPE html&gt;</a:t>
                      </a:r>
                      <a:endParaRPr sz="1800" b="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html 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lang=</a:t>
                      </a:r>
                      <a:r>
                        <a:rPr lang="az-Latn" sz="18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</a:t>
                      </a:r>
                      <a:r>
                        <a:rPr lang="az-Latn-AZ" sz="18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en</a:t>
                      </a:r>
                      <a:r>
                        <a:rPr lang="az-Latn" sz="18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head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  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title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Some text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title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800" b="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  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meta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charset=</a:t>
                      </a:r>
                      <a:r>
                        <a:rPr lang="az-Latn" sz="1800" b="0" u="none" strike="noStrike" cap="none" dirty="0">
                          <a:solidFill>
                            <a:srgbClr val="A2FCA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"UTF-8"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head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800" b="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body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  ...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&lt;/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body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 dirty="0"/>
                      </a:b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800" b="1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html</a:t>
                      </a:r>
                      <a:r>
                        <a:rPr lang="az-Latn" sz="1800" b="0" u="none" strike="noStrike" cap="none" dirty="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800" b="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8"/>
          <p:cNvSpPr/>
          <p:nvPr/>
        </p:nvSpPr>
        <p:spPr>
          <a:xfrm>
            <a:off x="8784000" y="4457880"/>
            <a:ext cx="192600" cy="1944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68"/>
          <p:cNvSpPr/>
          <p:nvPr/>
        </p:nvSpPr>
        <p:spPr>
          <a:xfrm>
            <a:off x="512280" y="1939680"/>
            <a:ext cx="6329520" cy="252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1001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 pitchFamily="34" charset="0"/>
              <a:buChar char="•"/>
            </a:pPr>
            <a:r>
              <a:rPr lang="az-Latn-AZ" sz="2400" dirty="0">
                <a:latin typeface="Montserrat"/>
                <a:ea typeface="Montserrat"/>
                <a:cs typeface="Montserrat"/>
                <a:sym typeface="Montserrat"/>
              </a:rPr>
              <a:t>S</a:t>
            </a:r>
            <a:r>
              <a:rPr lang="az-Latn" sz="24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ənədin başlığı və gövdəsini əlavə edərək HTML sənədinin strukturunu yaradın.</a:t>
            </a:r>
            <a:endParaRPr sz="24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68"/>
          <p:cNvSpPr/>
          <p:nvPr/>
        </p:nvSpPr>
        <p:spPr>
          <a:xfrm>
            <a:off x="368648" y="360000"/>
            <a:ext cx="6909000" cy="12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-AZ" sz="3600" b="0" i="0" u="none" strike="noStrike" cap="none" dirty="0">
                <a:solidFill>
                  <a:srgbClr val="000000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Task 1</a:t>
            </a:r>
            <a:endParaRPr sz="36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69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69"/>
          <p:cNvSpPr/>
          <p:nvPr/>
        </p:nvSpPr>
        <p:spPr>
          <a:xfrm>
            <a:off x="360000" y="360000"/>
            <a:ext cx="4211640" cy="44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4200" b="0" i="0" u="none" strike="noStrike" cap="none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Mətn elementləri</a:t>
            </a:r>
            <a:endParaRPr sz="42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891" y="0"/>
            <a:ext cx="5132749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70"/>
          <p:cNvSpPr/>
          <p:nvPr/>
        </p:nvSpPr>
        <p:spPr>
          <a:xfrm>
            <a:off x="368640" y="360000"/>
            <a:ext cx="833004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3600" b="0" i="0" u="none" strike="noStrike" cap="none">
                <a:solidFill>
                  <a:srgbClr val="000000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Mətn paraqrafı </a:t>
            </a:r>
            <a:r>
              <a:rPr lang="az-Latn" sz="24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(paragraph)</a:t>
            </a: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436" name="Google Shape;436;p70"/>
          <p:cNvGraphicFramePr/>
          <p:nvPr/>
        </p:nvGraphicFramePr>
        <p:xfrm>
          <a:off x="360000" y="2887560"/>
          <a:ext cx="5432400" cy="942850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543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942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Some text here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and here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37" name="Google Shape;437;p70"/>
          <p:cNvSpPr/>
          <p:nvPr/>
        </p:nvSpPr>
        <p:spPr>
          <a:xfrm>
            <a:off x="368640" y="2560680"/>
            <a:ext cx="2630880" cy="344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200" b="0" i="1" u="none" strike="noStrike" cap="non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HTML</a:t>
            </a:r>
            <a:endParaRPr sz="12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70"/>
          <p:cNvSpPr/>
          <p:nvPr/>
        </p:nvSpPr>
        <p:spPr>
          <a:xfrm>
            <a:off x="6152760" y="2560680"/>
            <a:ext cx="1296360" cy="344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70"/>
          <p:cNvSpPr/>
          <p:nvPr/>
        </p:nvSpPr>
        <p:spPr>
          <a:xfrm>
            <a:off x="341640" y="1314360"/>
            <a:ext cx="545076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Özündə mətn saxlayan element.</a:t>
            </a:r>
            <a:endParaRPr sz="18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70"/>
          <p:cNvSpPr/>
          <p:nvPr/>
        </p:nvSpPr>
        <p:spPr>
          <a:xfrm>
            <a:off x="6284160" y="1307160"/>
            <a:ext cx="169992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3" name="Google Shape;443;p70"/>
          <p:cNvPicPr preferRelativeResize="0"/>
          <p:nvPr/>
        </p:nvPicPr>
        <p:blipFill rotWithShape="1">
          <a:blip r:embed="rId3">
            <a:alphaModFix/>
          </a:blip>
          <a:srcRect t="18928" r="-22657" b="14583"/>
          <a:stretch/>
        </p:blipFill>
        <p:spPr>
          <a:xfrm>
            <a:off x="6152760" y="2887560"/>
            <a:ext cx="2630880" cy="964800"/>
          </a:xfrm>
          <a:prstGeom prst="rect">
            <a:avLst/>
          </a:prstGeom>
          <a:noFill/>
          <a:ln w="9525" cap="flat" cmpd="sng">
            <a:solidFill>
              <a:srgbClr val="333333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71"/>
          <p:cNvSpPr/>
          <p:nvPr/>
        </p:nvSpPr>
        <p:spPr>
          <a:xfrm>
            <a:off x="368640" y="360000"/>
            <a:ext cx="833004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3600" b="0" i="0" u="none" strike="noStrike" cap="none">
                <a:solidFill>
                  <a:srgbClr val="000000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Növbəti sətirə keçmə </a:t>
            </a:r>
            <a:r>
              <a:rPr lang="az-Latn" sz="24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(line break)</a:t>
            </a: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449" name="Google Shape;449;p71"/>
          <p:cNvGraphicFramePr/>
          <p:nvPr/>
        </p:nvGraphicFramePr>
        <p:xfrm>
          <a:off x="360000" y="2887560"/>
          <a:ext cx="5432400" cy="1458478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543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45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Some text here </a:t>
                      </a:r>
                      <a:r>
                        <a:rPr lang="az-Latn" sz="24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br</a:t>
                      </a:r>
                      <a:r>
                        <a:rPr lang="az-Latn" sz="24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/>
                      </a:b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 and here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30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50" name="Google Shape;450;p71"/>
          <p:cNvSpPr/>
          <p:nvPr/>
        </p:nvSpPr>
        <p:spPr>
          <a:xfrm>
            <a:off x="368640" y="2560680"/>
            <a:ext cx="2630880" cy="344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200" b="0" i="1" u="none" strike="noStrike" cap="non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HTML</a:t>
            </a:r>
            <a:endParaRPr sz="12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71"/>
          <p:cNvSpPr/>
          <p:nvPr/>
        </p:nvSpPr>
        <p:spPr>
          <a:xfrm>
            <a:off x="6152760" y="2560680"/>
            <a:ext cx="1296360" cy="344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71"/>
          <p:cNvSpPr/>
          <p:nvPr/>
        </p:nvSpPr>
        <p:spPr>
          <a:xfrm>
            <a:off x="341640" y="1314360"/>
            <a:ext cx="545076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Element mətn blokunun içərisində sə</a:t>
            </a:r>
            <a:r>
              <a:rPr lang="az-Latn" sz="1800">
                <a:latin typeface="Montserrat"/>
                <a:ea typeface="Montserrat"/>
                <a:cs typeface="Montserrat"/>
                <a:sym typeface="Montserrat"/>
              </a:rPr>
              <a:t>tirdən-sətirə</a:t>
            </a: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az-Latn" sz="1800">
                <a:latin typeface="Montserrat"/>
                <a:ea typeface="Montserrat"/>
                <a:cs typeface="Montserrat"/>
                <a:sym typeface="Montserrat"/>
              </a:rPr>
              <a:t>keçiri</a:t>
            </a: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 (şeirlər, kontaktlar və s.).</a:t>
            </a:r>
            <a:endParaRPr sz="18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71"/>
          <p:cNvSpPr/>
          <p:nvPr/>
        </p:nvSpPr>
        <p:spPr>
          <a:xfrm>
            <a:off x="6284160" y="1307160"/>
            <a:ext cx="169992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6" name="Google Shape;456;p71"/>
          <p:cNvPicPr preferRelativeResize="0"/>
          <p:nvPr/>
        </p:nvPicPr>
        <p:blipFill rotWithShape="1">
          <a:blip r:embed="rId3">
            <a:alphaModFix/>
          </a:blip>
          <a:srcRect t="-12149" r="-42429" b="-23974"/>
          <a:stretch/>
        </p:blipFill>
        <p:spPr>
          <a:xfrm>
            <a:off x="6152760" y="2887560"/>
            <a:ext cx="2630880" cy="1383840"/>
          </a:xfrm>
          <a:prstGeom prst="rect">
            <a:avLst/>
          </a:prstGeom>
          <a:noFill/>
          <a:ln w="9525" cap="flat" cmpd="sng">
            <a:solidFill>
              <a:srgbClr val="333333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72"/>
          <p:cNvSpPr/>
          <p:nvPr/>
        </p:nvSpPr>
        <p:spPr>
          <a:xfrm>
            <a:off x="8784000" y="4457880"/>
            <a:ext cx="192600" cy="1944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72"/>
          <p:cNvSpPr/>
          <p:nvPr/>
        </p:nvSpPr>
        <p:spPr>
          <a:xfrm>
            <a:off x="368640" y="360000"/>
            <a:ext cx="8330040" cy="54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2400" b="0" i="0" u="none" strike="noStrike" cap="none">
                <a:solidFill>
                  <a:srgbClr val="000000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Paraqrafları ayırmaq üçün &lt;br&gt; istifadə etmirik.</a:t>
            </a: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72"/>
          <p:cNvSpPr/>
          <p:nvPr/>
        </p:nvSpPr>
        <p:spPr>
          <a:xfrm>
            <a:off x="4740840" y="991800"/>
            <a:ext cx="4042800" cy="3833280"/>
          </a:xfrm>
          <a:prstGeom prst="roundRect">
            <a:avLst>
              <a:gd name="adj" fmla="val 4317"/>
            </a:avLst>
          </a:prstGeom>
          <a:solidFill>
            <a:srgbClr val="88DB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64" name="Google Shape;464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52280" y="1058400"/>
            <a:ext cx="401040" cy="412560"/>
          </a:xfrm>
          <a:prstGeom prst="rect">
            <a:avLst/>
          </a:prstGeom>
          <a:noFill/>
          <a:ln>
            <a:noFill/>
          </a:ln>
        </p:spPr>
      </p:pic>
      <p:sp>
        <p:nvSpPr>
          <p:cNvPr id="465" name="Google Shape;465;p72"/>
          <p:cNvSpPr/>
          <p:nvPr/>
        </p:nvSpPr>
        <p:spPr>
          <a:xfrm>
            <a:off x="360000" y="991800"/>
            <a:ext cx="4042800" cy="3833280"/>
          </a:xfrm>
          <a:prstGeom prst="roundRect">
            <a:avLst>
              <a:gd name="adj" fmla="val 4317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466" name="Google Shape;466;p72"/>
          <p:cNvGraphicFramePr/>
          <p:nvPr/>
        </p:nvGraphicFramePr>
        <p:xfrm>
          <a:off x="4853520" y="1532520"/>
          <a:ext cx="3800150" cy="3231779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380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74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2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200" b="1" u="none" strike="noStrike" cap="none">
                          <a:solidFill>
                            <a:schemeClr val="accent6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12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12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2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Proqramlaşdırma məntiqi təfəkkürün inkişafına kömək edir və  səbəb-nəticə əlaqələri qurmağı öyrədir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200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2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/</a:t>
                      </a:r>
                      <a:r>
                        <a:rPr lang="az-Latn" sz="1200" b="1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12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2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200" b="1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12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 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2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Proqramlaşdırma XXI əsrdə tələb olunan peşələrdən birinə sahib olmaq üçün lazımdır.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2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200" b="1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12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20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200" b="1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120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200" u="none" strike="noStrike" cap="none"/>
                      </a:br>
                      <a:r>
                        <a:rPr lang="az-Latn" sz="12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Bizim ünvanımız:</a:t>
                      </a:r>
                      <a:r>
                        <a:rPr lang="az-Latn" sz="120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200" b="1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br</a:t>
                      </a:r>
                      <a:r>
                        <a:rPr lang="az-Latn" sz="1200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2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119034, Moskva, </a:t>
                      </a:r>
                      <a:r>
                        <a:rPr lang="az-Latn" sz="12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2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br</a:t>
                      </a:r>
                      <a:r>
                        <a:rPr lang="az-Latn" sz="12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2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Zemlyanoy val, b. 59, s.2.</a:t>
                      </a:r>
                      <a:br>
                        <a:rPr lang="az-Latn" sz="1200" u="none" strike="noStrike" cap="none"/>
                      </a:br>
                      <a:r>
                        <a:rPr lang="az-Latn" sz="12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2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12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467" name="Google Shape;467;p7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80440" y="1058400"/>
            <a:ext cx="401040" cy="41256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68" name="Google Shape;468;p72"/>
          <p:cNvGraphicFramePr/>
          <p:nvPr/>
        </p:nvGraphicFramePr>
        <p:xfrm>
          <a:off x="481320" y="1532520"/>
          <a:ext cx="3800150" cy="3174850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380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74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2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2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12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12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2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Proqramlaşdırma məntiqi təfəkkürün inkişafına kömək edir və  səbəb-nəticə əlaqələri qurmağı öyrədir  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az-Latn" sz="1200">
                          <a:solidFill>
                            <a:schemeClr val="accent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200" b="1">
                          <a:solidFill>
                            <a:schemeClr val="accent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br</a:t>
                      </a:r>
                      <a:r>
                        <a:rPr lang="az-Latn" sz="1200">
                          <a:solidFill>
                            <a:schemeClr val="accent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az-Latn" sz="1200">
                          <a:solidFill>
                            <a:schemeClr val="accent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200" b="1">
                          <a:solidFill>
                            <a:schemeClr val="accent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br</a:t>
                      </a:r>
                      <a:r>
                        <a:rPr lang="az-Latn" sz="1200">
                          <a:solidFill>
                            <a:schemeClr val="accent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2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Proqramlaşdırma XXI əsrdə tələb 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2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olunan peşələrdən birinə sahib olmaq üçün lazımdır.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2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2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12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73"/>
          <p:cNvSpPr/>
          <p:nvPr/>
        </p:nvSpPr>
        <p:spPr>
          <a:xfrm>
            <a:off x="368640" y="360000"/>
            <a:ext cx="833004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3500" b="0" i="0" u="none" strike="noStrike" cap="none">
                <a:solidFill>
                  <a:srgbClr val="000000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Qalın yazı tipi</a:t>
            </a:r>
            <a:r>
              <a:rPr lang="az-Latn" sz="3000" b="0" i="0" u="none" strike="noStrike" cap="none">
                <a:solidFill>
                  <a:srgbClr val="000000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</a:t>
            </a:r>
            <a:r>
              <a:rPr lang="az-Latn" sz="24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(bold)</a:t>
            </a: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474" name="Google Shape;474;p73"/>
          <p:cNvGraphicFramePr/>
          <p:nvPr/>
        </p:nvGraphicFramePr>
        <p:xfrm>
          <a:off x="360000" y="2887560"/>
          <a:ext cx="5432400" cy="1044725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543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044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Some </a:t>
                      </a:r>
                      <a:r>
                        <a:rPr lang="az-Latn" sz="24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</a:t>
                      </a:r>
                      <a:r>
                        <a:rPr lang="az-Latn" sz="24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bold text</a:t>
                      </a:r>
                      <a:r>
                        <a:rPr lang="az-Latn" sz="24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2400" b="1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</a:t>
                      </a:r>
                      <a:r>
                        <a:rPr lang="az-Latn" sz="24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here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30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75" name="Google Shape;475;p73"/>
          <p:cNvSpPr/>
          <p:nvPr/>
        </p:nvSpPr>
        <p:spPr>
          <a:xfrm>
            <a:off x="368640" y="2560680"/>
            <a:ext cx="2630880" cy="344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200" b="0" i="1" u="none" strike="noStrike" cap="non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HTML</a:t>
            </a:r>
            <a:endParaRPr sz="12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73"/>
          <p:cNvSpPr/>
          <p:nvPr/>
        </p:nvSpPr>
        <p:spPr>
          <a:xfrm>
            <a:off x="6152760" y="2560680"/>
            <a:ext cx="1296360" cy="344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73"/>
          <p:cNvSpPr/>
          <p:nvPr/>
        </p:nvSpPr>
        <p:spPr>
          <a:xfrm>
            <a:off x="341640" y="1314360"/>
            <a:ext cx="545076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Mətn elementinə </a:t>
            </a:r>
            <a:r>
              <a:rPr lang="az-Latn" sz="1800">
                <a:latin typeface="Montserrat"/>
                <a:ea typeface="Montserrat"/>
                <a:cs typeface="Montserrat"/>
                <a:sym typeface="Montserrat"/>
              </a:rPr>
              <a:t>qalın</a:t>
            </a: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az-Latn" sz="1800">
                <a:latin typeface="Montserrat"/>
                <a:ea typeface="Montserrat"/>
                <a:cs typeface="Montserrat"/>
                <a:sym typeface="Montserrat"/>
              </a:rPr>
              <a:t>şrift</a:t>
            </a: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az-Latn" sz="1800">
                <a:latin typeface="Montserrat"/>
                <a:ea typeface="Montserrat"/>
                <a:cs typeface="Montserrat"/>
                <a:sym typeface="Montserrat"/>
              </a:rPr>
              <a:t>stilini</a:t>
            </a: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tətbiq edir.</a:t>
            </a:r>
            <a:endParaRPr sz="18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73"/>
          <p:cNvSpPr/>
          <p:nvPr/>
        </p:nvSpPr>
        <p:spPr>
          <a:xfrm>
            <a:off x="6284160" y="1307160"/>
            <a:ext cx="169992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9" name="Google Shape;479;p73"/>
          <p:cNvPicPr preferRelativeResize="0"/>
          <p:nvPr/>
        </p:nvPicPr>
        <p:blipFill rotWithShape="1">
          <a:blip r:embed="rId3">
            <a:alphaModFix/>
          </a:blip>
          <a:srcRect t="-25606" r="-27312" b="-20192"/>
          <a:stretch/>
        </p:blipFill>
        <p:spPr>
          <a:xfrm>
            <a:off x="6152760" y="2905200"/>
            <a:ext cx="2630880" cy="930240"/>
          </a:xfrm>
          <a:prstGeom prst="rect">
            <a:avLst/>
          </a:prstGeom>
          <a:noFill/>
          <a:ln w="9525" cap="flat" cmpd="sng">
            <a:solidFill>
              <a:srgbClr val="333333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74"/>
          <p:cNvSpPr/>
          <p:nvPr/>
        </p:nvSpPr>
        <p:spPr>
          <a:xfrm>
            <a:off x="368640" y="360000"/>
            <a:ext cx="833004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3600" b="0" i="0" u="none" strike="noStrike" cap="none">
                <a:solidFill>
                  <a:srgbClr val="000000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Çox əhəmiyyətli mətn </a:t>
            </a:r>
            <a:r>
              <a:rPr lang="az-Latn" sz="2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(strong importance)</a:t>
            </a:r>
            <a:endParaRPr sz="21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487" name="Google Shape;487;p74"/>
          <p:cNvGraphicFramePr/>
          <p:nvPr/>
        </p:nvGraphicFramePr>
        <p:xfrm>
          <a:off x="360000" y="2865240"/>
          <a:ext cx="5432400" cy="904060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543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122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24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strong</a:t>
                      </a:r>
                      <a:r>
                        <a:rPr lang="az-Latn" sz="24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Warning:</a:t>
                      </a:r>
                      <a:r>
                        <a:rPr lang="az-Latn" sz="24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2400" b="1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strong</a:t>
                      </a:r>
                      <a:r>
                        <a:rPr lang="az-Latn" sz="24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 </a:t>
                      </a:r>
                      <a:br>
                        <a:rPr lang="az-Latn" sz="1800" u="none" strike="noStrike" cap="none"/>
                      </a:b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dangerous dungeon here.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88" name="Google Shape;488;p74"/>
          <p:cNvSpPr/>
          <p:nvPr/>
        </p:nvSpPr>
        <p:spPr>
          <a:xfrm>
            <a:off x="6284160" y="1307160"/>
            <a:ext cx="169992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74"/>
          <p:cNvSpPr/>
          <p:nvPr/>
        </p:nvSpPr>
        <p:spPr>
          <a:xfrm>
            <a:off x="368640" y="2560680"/>
            <a:ext cx="2630880" cy="344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200" b="0" i="1" u="none" strike="noStrike" cap="non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HTML</a:t>
            </a:r>
            <a:endParaRPr sz="12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74"/>
          <p:cNvSpPr/>
          <p:nvPr/>
        </p:nvSpPr>
        <p:spPr>
          <a:xfrm>
            <a:off x="6152760" y="2560680"/>
            <a:ext cx="1296360" cy="344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74"/>
          <p:cNvSpPr/>
          <p:nvPr/>
        </p:nvSpPr>
        <p:spPr>
          <a:xfrm>
            <a:off x="341640" y="1314360"/>
            <a:ext cx="543240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Element xüsusi diqqət tələb edən vacib mətni fərqləndirir.</a:t>
            </a:r>
            <a:endParaRPr sz="18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2" name="Google Shape;492;p74"/>
          <p:cNvPicPr preferRelativeResize="0"/>
          <p:nvPr/>
        </p:nvPicPr>
        <p:blipFill rotWithShape="1">
          <a:blip r:embed="rId3">
            <a:alphaModFix/>
          </a:blip>
          <a:srcRect t="-98321" b="-98321"/>
          <a:stretch/>
        </p:blipFill>
        <p:spPr>
          <a:xfrm>
            <a:off x="6152760" y="2865240"/>
            <a:ext cx="2630880" cy="964800"/>
          </a:xfrm>
          <a:prstGeom prst="rect">
            <a:avLst/>
          </a:prstGeom>
          <a:noFill/>
          <a:ln w="9525" cap="flat" cmpd="sng">
            <a:solidFill>
              <a:srgbClr val="333333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75"/>
          <p:cNvSpPr/>
          <p:nvPr/>
        </p:nvSpPr>
        <p:spPr>
          <a:xfrm>
            <a:off x="368640" y="360000"/>
            <a:ext cx="833004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3200" b="0" i="0" u="none" strike="noStrike" cap="none">
                <a:solidFill>
                  <a:srgbClr val="000000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Kursiv yazı tipi</a:t>
            </a:r>
            <a:r>
              <a:rPr lang="az-Latn" sz="3000" b="0" i="0" u="none" strike="noStrike" cap="none">
                <a:solidFill>
                  <a:srgbClr val="000000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</a:t>
            </a:r>
            <a:r>
              <a:rPr lang="az-Latn" sz="24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(italic)</a:t>
            </a: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00" name="Google Shape;500;p75"/>
          <p:cNvGraphicFramePr/>
          <p:nvPr/>
        </p:nvGraphicFramePr>
        <p:xfrm>
          <a:off x="360000" y="2887560"/>
          <a:ext cx="5432400" cy="1452600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543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45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Some </a:t>
                      </a:r>
                      <a:r>
                        <a:rPr lang="az-Latn" sz="24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</a:t>
                      </a:r>
                      <a:r>
                        <a:rPr lang="az-Latn" sz="24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italic text</a:t>
                      </a:r>
                      <a:r>
                        <a:rPr lang="az-Latn" sz="24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2400" b="1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</a:t>
                      </a:r>
                      <a:r>
                        <a:rPr lang="az-Latn" sz="24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here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30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01" name="Google Shape;501;p75"/>
          <p:cNvSpPr/>
          <p:nvPr/>
        </p:nvSpPr>
        <p:spPr>
          <a:xfrm>
            <a:off x="368640" y="2560680"/>
            <a:ext cx="2630880" cy="344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200" b="0" i="1" u="none" strike="noStrike" cap="non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HTML</a:t>
            </a:r>
            <a:endParaRPr sz="12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75"/>
          <p:cNvSpPr/>
          <p:nvPr/>
        </p:nvSpPr>
        <p:spPr>
          <a:xfrm>
            <a:off x="6152760" y="2560680"/>
            <a:ext cx="1296360" cy="344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75"/>
          <p:cNvSpPr/>
          <p:nvPr/>
        </p:nvSpPr>
        <p:spPr>
          <a:xfrm>
            <a:off x="341640" y="1314360"/>
            <a:ext cx="545076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Element </a:t>
            </a:r>
            <a:r>
              <a:rPr lang="az-Latn" sz="1800">
                <a:latin typeface="Montserrat"/>
                <a:ea typeface="Montserrat"/>
                <a:cs typeface="Montserrat"/>
                <a:sym typeface="Montserrat"/>
              </a:rPr>
              <a:t>kursiv</a:t>
            </a: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az-Latn" sz="1800">
                <a:latin typeface="Montserrat"/>
                <a:ea typeface="Montserrat"/>
                <a:cs typeface="Montserrat"/>
                <a:sym typeface="Montserrat"/>
              </a:rPr>
              <a:t>şrift</a:t>
            </a: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az-Latn" sz="1800">
                <a:latin typeface="Montserrat"/>
                <a:ea typeface="Montserrat"/>
                <a:cs typeface="Montserrat"/>
                <a:sym typeface="Montserrat"/>
              </a:rPr>
              <a:t>stilini</a:t>
            </a: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tətbiq edir.</a:t>
            </a:r>
            <a:endParaRPr sz="18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4" name="Google Shape;504;p75"/>
          <p:cNvPicPr preferRelativeResize="0"/>
          <p:nvPr/>
        </p:nvPicPr>
        <p:blipFill rotWithShape="1">
          <a:blip r:embed="rId3">
            <a:alphaModFix/>
          </a:blip>
          <a:srcRect t="-42297" r="-24028" b="-42297"/>
          <a:stretch/>
        </p:blipFill>
        <p:spPr>
          <a:xfrm>
            <a:off x="6152760" y="2904840"/>
            <a:ext cx="2630880" cy="925200"/>
          </a:xfrm>
          <a:prstGeom prst="rect">
            <a:avLst/>
          </a:prstGeom>
          <a:noFill/>
          <a:ln w="9525" cap="flat" cmpd="sng">
            <a:solidFill>
              <a:srgbClr val="333333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505" name="Google Shape;505;p75"/>
          <p:cNvSpPr/>
          <p:nvPr/>
        </p:nvSpPr>
        <p:spPr>
          <a:xfrm>
            <a:off x="6284160" y="1307160"/>
            <a:ext cx="169992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76"/>
          <p:cNvSpPr/>
          <p:nvPr/>
        </p:nvSpPr>
        <p:spPr>
          <a:xfrm>
            <a:off x="368640" y="360000"/>
            <a:ext cx="833004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3600" b="0" i="0" u="none" strike="noStrike" cap="none">
                <a:solidFill>
                  <a:srgbClr val="000000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Vurğulu mətn </a:t>
            </a:r>
            <a:r>
              <a:rPr lang="az-Latn" sz="24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(emphasis)</a:t>
            </a: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13" name="Google Shape;513;p76"/>
          <p:cNvGraphicFramePr/>
          <p:nvPr/>
        </p:nvGraphicFramePr>
        <p:xfrm>
          <a:off x="360000" y="2887560"/>
          <a:ext cx="5432400" cy="942850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543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942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24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em</a:t>
                      </a:r>
                      <a:r>
                        <a:rPr lang="az-Latn" sz="24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Cats</a:t>
                      </a:r>
                      <a:r>
                        <a:rPr lang="az-Latn" sz="24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2400" b="1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em</a:t>
                      </a:r>
                      <a:r>
                        <a:rPr lang="az-Latn" sz="24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are cute animals.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14" name="Google Shape;514;p76"/>
          <p:cNvSpPr/>
          <p:nvPr/>
        </p:nvSpPr>
        <p:spPr>
          <a:xfrm>
            <a:off x="368640" y="2560680"/>
            <a:ext cx="2630880" cy="344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200" b="0" i="1" u="none" strike="noStrike" cap="non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HTML</a:t>
            </a:r>
            <a:endParaRPr sz="12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76"/>
          <p:cNvSpPr/>
          <p:nvPr/>
        </p:nvSpPr>
        <p:spPr>
          <a:xfrm>
            <a:off x="6152760" y="2560680"/>
            <a:ext cx="1296360" cy="344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76"/>
          <p:cNvSpPr/>
          <p:nvPr/>
        </p:nvSpPr>
        <p:spPr>
          <a:xfrm>
            <a:off x="341640" y="1314360"/>
            <a:ext cx="525924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Element vurğulu </a:t>
            </a:r>
            <a:endParaRPr sz="1800" b="0" i="0" u="none" strike="noStrike" cap="none"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qeyd olunmalı mətni göstərir.</a:t>
            </a:r>
            <a:endParaRPr sz="18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76"/>
          <p:cNvSpPr/>
          <p:nvPr/>
        </p:nvSpPr>
        <p:spPr>
          <a:xfrm>
            <a:off x="6284160" y="1307160"/>
            <a:ext cx="169992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18" name="Google Shape;518;p76"/>
          <p:cNvPicPr preferRelativeResize="0"/>
          <p:nvPr/>
        </p:nvPicPr>
        <p:blipFill rotWithShape="1">
          <a:blip r:embed="rId3">
            <a:alphaModFix/>
          </a:blip>
          <a:srcRect t="-47455" r="-22778" b="-47456"/>
          <a:stretch/>
        </p:blipFill>
        <p:spPr>
          <a:xfrm>
            <a:off x="6152760" y="2887560"/>
            <a:ext cx="2630880" cy="964800"/>
          </a:xfrm>
          <a:prstGeom prst="rect">
            <a:avLst/>
          </a:prstGeom>
          <a:noFill/>
          <a:ln w="9525" cap="flat" cmpd="sng">
            <a:solidFill>
              <a:srgbClr val="333333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519" name="Google Shape;519;p76"/>
          <p:cNvSpPr/>
          <p:nvPr/>
        </p:nvSpPr>
        <p:spPr>
          <a:xfrm>
            <a:off x="8407088" y="1632913"/>
            <a:ext cx="192900" cy="19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77"/>
          <p:cNvSpPr/>
          <p:nvPr/>
        </p:nvSpPr>
        <p:spPr>
          <a:xfrm>
            <a:off x="4740840" y="2820600"/>
            <a:ext cx="4042800" cy="1977120"/>
          </a:xfrm>
          <a:prstGeom prst="roundRect">
            <a:avLst>
              <a:gd name="adj" fmla="val 4317"/>
            </a:avLst>
          </a:prstGeom>
          <a:solidFill>
            <a:srgbClr val="88DB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27" name="Google Shape;527;p7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52280" y="2887200"/>
            <a:ext cx="401040" cy="412560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77"/>
          <p:cNvSpPr/>
          <p:nvPr/>
        </p:nvSpPr>
        <p:spPr>
          <a:xfrm>
            <a:off x="360000" y="2820600"/>
            <a:ext cx="4042800" cy="1977120"/>
          </a:xfrm>
          <a:prstGeom prst="roundRect">
            <a:avLst>
              <a:gd name="adj" fmla="val 7989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29" name="Google Shape;529;p7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80440" y="2887200"/>
            <a:ext cx="401040" cy="412560"/>
          </a:xfrm>
          <a:prstGeom prst="rect">
            <a:avLst/>
          </a:prstGeom>
          <a:noFill/>
          <a:ln>
            <a:noFill/>
          </a:ln>
        </p:spPr>
      </p:pic>
      <p:sp>
        <p:nvSpPr>
          <p:cNvPr id="530" name="Google Shape;530;p77"/>
          <p:cNvSpPr/>
          <p:nvPr/>
        </p:nvSpPr>
        <p:spPr>
          <a:xfrm>
            <a:off x="368640" y="360000"/>
            <a:ext cx="8330040" cy="54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3600" b="0" i="0" u="none" strike="noStrike" cap="none">
                <a:solidFill>
                  <a:srgbClr val="000000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b, i və strong, em arasındaki fərq </a:t>
            </a:r>
            <a:endParaRPr sz="36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31" name="Google Shape;531;p77"/>
          <p:cNvGraphicFramePr/>
          <p:nvPr/>
        </p:nvGraphicFramePr>
        <p:xfrm>
          <a:off x="481320" y="3387960"/>
          <a:ext cx="3800150" cy="698400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380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984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1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1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11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11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Some </a:t>
                      </a:r>
                      <a:r>
                        <a:rPr lang="az-Latn" sz="1100" b="0" u="none" strike="noStrike" cap="none">
                          <a:solidFill>
                            <a:srgbClr val="FF784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100" b="1" u="none" strike="noStrike" cap="none">
                          <a:solidFill>
                            <a:srgbClr val="FF784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strong</a:t>
                      </a:r>
                      <a:r>
                        <a:rPr lang="az-Latn" sz="1100" b="0" u="none" strike="noStrike" cap="none">
                          <a:solidFill>
                            <a:srgbClr val="FF784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11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bold text</a:t>
                      </a:r>
                      <a:r>
                        <a:rPr lang="az-Latn" sz="1100" b="0" u="none" strike="noStrike" cap="none">
                          <a:solidFill>
                            <a:srgbClr val="FF784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100" b="1" u="none" strike="noStrike" cap="none">
                          <a:solidFill>
                            <a:srgbClr val="FF784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strong</a:t>
                      </a:r>
                      <a:r>
                        <a:rPr lang="az-Latn" sz="1100" b="0" u="none" strike="noStrike" cap="none">
                          <a:solidFill>
                            <a:srgbClr val="FF784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11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here</a:t>
                      </a:r>
                      <a:endParaRPr sz="11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1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and some </a:t>
                      </a:r>
                      <a:r>
                        <a:rPr lang="az-Latn" sz="1100" b="0" u="none" strike="noStrike" cap="none">
                          <a:solidFill>
                            <a:srgbClr val="FF784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100" b="1" u="none" strike="noStrike" cap="none">
                          <a:solidFill>
                            <a:srgbClr val="FF784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em</a:t>
                      </a:r>
                      <a:r>
                        <a:rPr lang="az-Latn" sz="1100" b="0" u="none" strike="noStrike" cap="none">
                          <a:solidFill>
                            <a:srgbClr val="FF784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11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italic text</a:t>
                      </a:r>
                      <a:r>
                        <a:rPr lang="az-Latn" sz="1100" b="0" u="none" strike="noStrike" cap="none">
                          <a:solidFill>
                            <a:srgbClr val="FF784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100" b="1" u="none" strike="noStrike" cap="none">
                          <a:solidFill>
                            <a:srgbClr val="FF784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em</a:t>
                      </a:r>
                      <a:r>
                        <a:rPr lang="az-Latn" sz="1100" b="0" u="none" strike="noStrike" cap="none">
                          <a:solidFill>
                            <a:srgbClr val="FF7842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11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here </a:t>
                      </a:r>
                      <a:endParaRPr sz="11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2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2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12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32" name="Google Shape;532;p77"/>
          <p:cNvSpPr/>
          <p:nvPr/>
        </p:nvSpPr>
        <p:spPr>
          <a:xfrm>
            <a:off x="368640" y="991800"/>
            <a:ext cx="8385840" cy="1828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Vizual olaraq kod eyni görünür, lakin müxtəlif nitq sint</a:t>
            </a:r>
            <a:r>
              <a:rPr lang="az-Latn" sz="1800">
                <a:latin typeface="Montserrat"/>
                <a:ea typeface="Montserrat"/>
                <a:cs typeface="Montserrat"/>
                <a:sym typeface="Montserrat"/>
              </a:rPr>
              <a:t>e</a:t>
            </a: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zatoru, screenreader və axtarış robotları tərəfindən fərqli qəbul olunacaqdır.</a:t>
            </a:r>
            <a:endParaRPr sz="1800" b="0" i="0" u="none" strike="noStrike" cap="none"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1"/>
              </a:spcBef>
              <a:spcAft>
                <a:spcPts val="0"/>
              </a:spcAft>
              <a:buNone/>
            </a:pP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Mətn məntiqi ifadə qeydi tələb etmirsə, </a:t>
            </a:r>
            <a:r>
              <a:rPr lang="az-Latn" sz="1800" b="0" i="1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b</a:t>
            </a: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və </a:t>
            </a:r>
            <a:r>
              <a:rPr lang="az-Latn" sz="1800" b="0" i="1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</a:t>
            </a: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istifadə edin.</a:t>
            </a:r>
            <a:endParaRPr sz="18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33" name="Google Shape;533;p77"/>
          <p:cNvGraphicFramePr/>
          <p:nvPr/>
        </p:nvGraphicFramePr>
        <p:xfrm>
          <a:off x="4852440" y="3387960"/>
          <a:ext cx="3800150" cy="1011250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380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011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1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1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11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 </a:t>
                      </a:r>
                      <a:r>
                        <a:rPr lang="az-Latn" sz="11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Some </a:t>
                      </a:r>
                      <a:r>
                        <a:rPr lang="az-Latn" sz="11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100" b="1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</a:t>
                      </a:r>
                      <a:r>
                        <a:rPr lang="az-Latn" sz="11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11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bold text</a:t>
                      </a:r>
                      <a:r>
                        <a:rPr lang="az-Latn" sz="11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100" b="1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</a:t>
                      </a:r>
                      <a:r>
                        <a:rPr lang="az-Latn" sz="11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11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here</a:t>
                      </a:r>
                      <a:endParaRPr sz="11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1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and some </a:t>
                      </a:r>
                      <a:r>
                        <a:rPr lang="az-Latn" sz="11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100" b="1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</a:t>
                      </a:r>
                      <a:r>
                        <a:rPr lang="az-Latn" sz="11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11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italic text</a:t>
                      </a:r>
                      <a:r>
                        <a:rPr lang="az-Latn" sz="11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100" b="1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</a:t>
                      </a:r>
                      <a:r>
                        <a:rPr lang="az-Latn" sz="11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11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here</a:t>
                      </a:r>
                      <a:endParaRPr sz="11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2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2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12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34" name="Google Shape;534;p77"/>
          <p:cNvSpPr/>
          <p:nvPr/>
        </p:nvSpPr>
        <p:spPr>
          <a:xfrm>
            <a:off x="471960" y="4201200"/>
            <a:ext cx="3799800" cy="45216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5" name="Google Shape;535;p77"/>
          <p:cNvSpPr/>
          <p:nvPr/>
        </p:nvSpPr>
        <p:spPr>
          <a:xfrm>
            <a:off x="4842720" y="4201200"/>
            <a:ext cx="3799800" cy="45216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36" name="Google Shape;536;p77"/>
          <p:cNvPicPr preferRelativeResize="0"/>
          <p:nvPr/>
        </p:nvPicPr>
        <p:blipFill rotWithShape="1">
          <a:blip r:embed="rId5">
            <a:alphaModFix/>
          </a:blip>
          <a:srcRect l="-4550" t="45761" r="-4902" b="-4073"/>
          <a:stretch/>
        </p:blipFill>
        <p:spPr>
          <a:xfrm>
            <a:off x="482400" y="4212000"/>
            <a:ext cx="3799800" cy="45216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537" name="Google Shape;537;p77"/>
          <p:cNvPicPr preferRelativeResize="0"/>
          <p:nvPr/>
        </p:nvPicPr>
        <p:blipFill rotWithShape="1">
          <a:blip r:embed="rId5">
            <a:alphaModFix/>
          </a:blip>
          <a:srcRect l="-5919" t="45761" r="-3534" b="-4073"/>
          <a:stretch/>
        </p:blipFill>
        <p:spPr>
          <a:xfrm>
            <a:off x="4853520" y="4212000"/>
            <a:ext cx="3799800" cy="45216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78"/>
          <p:cNvSpPr/>
          <p:nvPr/>
        </p:nvSpPr>
        <p:spPr>
          <a:xfrm>
            <a:off x="368640" y="360000"/>
            <a:ext cx="833004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3500" b="0" i="0" u="none" strike="noStrike" cap="none">
                <a:solidFill>
                  <a:srgbClr val="000000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Ayırıcı xətt</a:t>
            </a:r>
            <a:r>
              <a:rPr lang="az-Latn" sz="3600" b="0" i="0" u="none" strike="noStrike" cap="none">
                <a:solidFill>
                  <a:srgbClr val="000000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</a:t>
            </a:r>
            <a:r>
              <a:rPr lang="az-Latn" sz="23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(horizontal rule</a:t>
            </a:r>
            <a:r>
              <a:rPr lang="az-Latn" sz="25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500" b="0" i="0" u="none" strike="noStrike" cap="none"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43" name="Google Shape;543;p78"/>
          <p:cNvGraphicFramePr/>
          <p:nvPr/>
        </p:nvGraphicFramePr>
        <p:xfrm>
          <a:off x="360000" y="2887560"/>
          <a:ext cx="5432400" cy="1350725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543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350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First paragraph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/>
                      </a:br>
                      <a:r>
                        <a:rPr lang="az-Latn" sz="24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hr</a:t>
                      </a:r>
                      <a:r>
                        <a:rPr lang="az-Latn" sz="2400" b="0" u="none" strike="noStrike" cap="none">
                          <a:solidFill>
                            <a:srgbClr val="FFDC40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/>
                      </a:b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24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Second paragraph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24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az-Latn" sz="24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44" name="Google Shape;544;p78"/>
          <p:cNvSpPr/>
          <p:nvPr/>
        </p:nvSpPr>
        <p:spPr>
          <a:xfrm>
            <a:off x="368640" y="2560680"/>
            <a:ext cx="2630880" cy="344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200" b="0" i="1" u="none" strike="noStrike" cap="non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HTML</a:t>
            </a:r>
            <a:endParaRPr sz="12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78"/>
          <p:cNvSpPr/>
          <p:nvPr/>
        </p:nvSpPr>
        <p:spPr>
          <a:xfrm>
            <a:off x="6152760" y="2560680"/>
            <a:ext cx="1296360" cy="344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78"/>
          <p:cNvSpPr/>
          <p:nvPr/>
        </p:nvSpPr>
        <p:spPr>
          <a:xfrm>
            <a:off x="341640" y="1314360"/>
            <a:ext cx="5432400" cy="9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Element yeni bir mövzu və ya bölmə təyin edən üfüqi bir xətt əlavə edir.</a:t>
            </a:r>
            <a:endParaRPr sz="18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78"/>
          <p:cNvSpPr/>
          <p:nvPr/>
        </p:nvSpPr>
        <p:spPr>
          <a:xfrm>
            <a:off x="6284160" y="1307160"/>
            <a:ext cx="169992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8" name="Google Shape;548;p78"/>
          <p:cNvPicPr preferRelativeResize="0"/>
          <p:nvPr/>
        </p:nvPicPr>
        <p:blipFill rotWithShape="1">
          <a:blip r:embed="rId3">
            <a:alphaModFix/>
          </a:blip>
          <a:srcRect t="-19949" b="-23501"/>
          <a:stretch/>
        </p:blipFill>
        <p:spPr>
          <a:xfrm>
            <a:off x="6152760" y="2904840"/>
            <a:ext cx="2590200" cy="1383840"/>
          </a:xfrm>
          <a:prstGeom prst="rect">
            <a:avLst/>
          </a:prstGeom>
          <a:noFill/>
          <a:ln w="9525" cap="flat" cmpd="sng">
            <a:solidFill>
              <a:srgbClr val="333333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549" name="Google Shape;549;p78"/>
          <p:cNvSpPr/>
          <p:nvPr/>
        </p:nvSpPr>
        <p:spPr>
          <a:xfrm>
            <a:off x="8407088" y="1632913"/>
            <a:ext cx="192900" cy="19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79"/>
          <p:cNvSpPr/>
          <p:nvPr/>
        </p:nvSpPr>
        <p:spPr>
          <a:xfrm>
            <a:off x="368640" y="360000"/>
            <a:ext cx="833004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3600" b="0" i="0" u="none" strike="noStrike" cap="none">
                <a:solidFill>
                  <a:srgbClr val="000000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Başlıqlar</a:t>
            </a:r>
            <a:r>
              <a:rPr lang="az-Latn" sz="2400" b="0" i="0" u="none" strike="noStrike" cap="none">
                <a:solidFill>
                  <a:srgbClr val="000000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</a:t>
            </a:r>
            <a:r>
              <a:rPr lang="az-Latn" sz="24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(headings)</a:t>
            </a: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57" name="Google Shape;557;p79"/>
          <p:cNvGraphicFramePr/>
          <p:nvPr/>
        </p:nvGraphicFramePr>
        <p:xfrm>
          <a:off x="360000" y="2583000"/>
          <a:ext cx="5432400" cy="1668790"/>
        </p:xfrm>
        <a:graphic>
          <a:graphicData uri="http://schemas.openxmlformats.org/drawingml/2006/table">
            <a:tbl>
              <a:tblPr>
                <a:noFill/>
                <a:tableStyleId>{716D95D4-5E96-408E-BDB5-42D1FBE3105A}</a:tableStyleId>
              </a:tblPr>
              <a:tblGrid>
                <a:gridCol w="543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51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Latn" sz="18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h1</a:t>
                      </a:r>
                      <a:r>
                        <a:rPr lang="az-Latn" sz="18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18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Səhifə başlığı</a:t>
                      </a:r>
                      <a:r>
                        <a:rPr lang="az-Latn" sz="18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8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h1</a:t>
                      </a:r>
                      <a:r>
                        <a:rPr lang="az-Latn" sz="18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/>
                      </a:br>
                      <a:r>
                        <a:rPr lang="az-Latn" sz="18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h2</a:t>
                      </a:r>
                      <a:r>
                        <a:rPr lang="az-Latn" sz="18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18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Səhifənin böyük hissəsinin başlığı</a:t>
                      </a:r>
                      <a:r>
                        <a:rPr lang="az-Latn" sz="18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8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h2</a:t>
                      </a:r>
                      <a:r>
                        <a:rPr lang="az-Latn" sz="18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br>
                        <a:rPr lang="az-Latn" sz="1800" u="none" strike="noStrike" cap="none"/>
                      </a:br>
                      <a:r>
                        <a:rPr lang="az-Latn" sz="18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</a:t>
                      </a:r>
                      <a:r>
                        <a:rPr lang="az-Latn" sz="18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h3</a:t>
                      </a:r>
                      <a:r>
                        <a:rPr lang="az-Latn" sz="18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r>
                        <a:rPr lang="az-Latn" sz="1800" b="0" u="none" strike="noStrike" cap="none">
                          <a:solidFill>
                            <a:srgbClr val="FFFFFF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Səhifə kiçik ayrı-ayrı bölmə başlıqları</a:t>
                      </a:r>
                      <a:r>
                        <a:rPr lang="az-Latn" sz="18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&lt;/</a:t>
                      </a:r>
                      <a:r>
                        <a:rPr lang="az-Latn" sz="1800" b="1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h3</a:t>
                      </a:r>
                      <a:r>
                        <a:rPr lang="az-Latn" sz="1800" b="0" u="none" strike="noStrike" cap="none">
                          <a:solidFill>
                            <a:srgbClr val="62C8F3"/>
                          </a:solidFill>
                          <a:highlight>
                            <a:srgbClr val="33333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&gt;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350" marR="63350" marT="45725" marB="45725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58" name="Google Shape;558;p79"/>
          <p:cNvSpPr/>
          <p:nvPr/>
        </p:nvSpPr>
        <p:spPr>
          <a:xfrm>
            <a:off x="368640" y="2255760"/>
            <a:ext cx="2630880" cy="344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200" b="0" i="1" u="none" strike="noStrike" cap="non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HTML</a:t>
            </a:r>
            <a:endParaRPr sz="12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79"/>
          <p:cNvSpPr/>
          <p:nvPr/>
        </p:nvSpPr>
        <p:spPr>
          <a:xfrm>
            <a:off x="6152760" y="2255760"/>
            <a:ext cx="1296360" cy="344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79"/>
          <p:cNvSpPr/>
          <p:nvPr/>
        </p:nvSpPr>
        <p:spPr>
          <a:xfrm>
            <a:off x="341640" y="1314360"/>
            <a:ext cx="543240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Müxtəlif əhəmiyyətli səviyyələrdə başlıqlar.</a:t>
            </a:r>
            <a:endParaRPr sz="18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79"/>
          <p:cNvSpPr/>
          <p:nvPr/>
        </p:nvSpPr>
        <p:spPr>
          <a:xfrm>
            <a:off x="6284160" y="1307160"/>
            <a:ext cx="1699920" cy="63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79"/>
          <p:cNvSpPr/>
          <p:nvPr/>
        </p:nvSpPr>
        <p:spPr>
          <a:xfrm>
            <a:off x="8407088" y="1632913"/>
            <a:ext cx="192900" cy="19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4" name="Google Shape;564;p79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59633" y="1451607"/>
            <a:ext cx="301274" cy="344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5" name="Google Shape;565;p79"/>
          <p:cNvPicPr preferRelativeResize="0"/>
          <p:nvPr/>
        </p:nvPicPr>
        <p:blipFill rotWithShape="1">
          <a:blip r:embed="rId5">
            <a:alphaModFix/>
          </a:blip>
          <a:srcRect l="6428" t="5015"/>
          <a:stretch/>
        </p:blipFill>
        <p:spPr>
          <a:xfrm>
            <a:off x="6284150" y="2599925"/>
            <a:ext cx="2388525" cy="1872725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80"/>
          <p:cNvSpPr/>
          <p:nvPr/>
        </p:nvSpPr>
        <p:spPr>
          <a:xfrm>
            <a:off x="8784000" y="4457880"/>
            <a:ext cx="192600" cy="1944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80"/>
          <p:cNvSpPr/>
          <p:nvPr/>
        </p:nvSpPr>
        <p:spPr>
          <a:xfrm>
            <a:off x="368640" y="360000"/>
            <a:ext cx="6641640" cy="12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3600" b="0" i="0" u="none" strike="noStrike" cap="none" dirty="0">
                <a:solidFill>
                  <a:srgbClr val="000000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Ta</a:t>
            </a:r>
            <a:r>
              <a:rPr lang="az-Latn-AZ" sz="3600" b="0" i="0" u="none" strike="noStrike" cap="none" dirty="0">
                <a:solidFill>
                  <a:srgbClr val="000000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sk 2</a:t>
            </a:r>
            <a:endParaRPr sz="36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5" name="Google Shape;575;p80"/>
          <p:cNvSpPr/>
          <p:nvPr/>
        </p:nvSpPr>
        <p:spPr>
          <a:xfrm>
            <a:off x="436320" y="1623960"/>
            <a:ext cx="6845760" cy="3158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z-Latn" sz="1800" b="0" i="0" u="none" strike="noStrike" cap="none" dirty="0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HTML sənədi tamamlayın.</a:t>
            </a:r>
            <a:endParaRPr sz="1800" b="0" i="0" u="none" strike="noStrike" cap="none" dirty="0">
              <a:latin typeface="Arial"/>
              <a:ea typeface="Arial"/>
              <a:cs typeface="Arial"/>
              <a:sym typeface="Arial"/>
            </a:endParaRPr>
          </a:p>
          <a:p>
            <a:pPr marL="408150" marR="0" lvl="0" indent="-285750" algn="l" rtl="0">
              <a:lnSpc>
                <a:spcPct val="100000"/>
              </a:lnSpc>
              <a:spcBef>
                <a:spcPts val="1001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 pitchFamily="34" charset="0"/>
              <a:buChar char="•"/>
            </a:pPr>
            <a:r>
              <a:rPr lang="az-Latn" sz="1800" b="0" i="0" u="none" strike="noStrike" cap="none" dirty="0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Adınızı başlıqda qeyd edin.</a:t>
            </a:r>
            <a:endParaRPr sz="1800" b="0" i="0" u="none" strike="noStrike" cap="none" dirty="0">
              <a:latin typeface="Arial"/>
              <a:ea typeface="Arial"/>
              <a:cs typeface="Arial"/>
              <a:sym typeface="Arial"/>
            </a:endParaRPr>
          </a:p>
          <a:p>
            <a:pPr marL="408150" marR="0" lvl="0" indent="-285750" algn="l" rtl="0">
              <a:lnSpc>
                <a:spcPct val="100000"/>
              </a:lnSpc>
              <a:spcBef>
                <a:spcPts val="1001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 pitchFamily="34" charset="0"/>
              <a:buChar char="•"/>
            </a:pPr>
            <a:r>
              <a:rPr lang="az-Latn" sz="1800" b="0" i="0" u="none" strike="noStrike" cap="none" dirty="0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Ayrı bir paraqrafda, e-poçt ünvanınızı  və hər hansı bir sosial şəbəkədə ləqəbinizi qeyd edin.</a:t>
            </a:r>
            <a:endParaRPr sz="1800" b="0" i="0" u="none" strike="noStrike" cap="none" dirty="0">
              <a:latin typeface="Arial"/>
              <a:ea typeface="Arial"/>
              <a:cs typeface="Arial"/>
              <a:sym typeface="Arial"/>
            </a:endParaRPr>
          </a:p>
          <a:p>
            <a:pPr marL="408150" marR="0" lvl="0" indent="-285750" algn="l" rtl="0">
              <a:lnSpc>
                <a:spcPct val="100000"/>
              </a:lnSpc>
              <a:spcBef>
                <a:spcPts val="1001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 pitchFamily="34" charset="0"/>
              <a:buChar char="•"/>
            </a:pPr>
            <a:r>
              <a:rPr lang="az-Latn" sz="1800" b="0" i="0" u="none" strike="noStrike" cap="none" dirty="0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Kontaktları qalın və </a:t>
            </a:r>
            <a:r>
              <a:rPr lang="az-Latn" sz="1800" dirty="0"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kursiv</a:t>
            </a:r>
            <a:r>
              <a:rPr lang="az-Latn" sz="1800" b="0" i="0" u="none" strike="noStrike" cap="none" dirty="0">
                <a:solidFill>
                  <a:srgbClr val="0000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 şəkildə tərtib edin.</a:t>
            </a:r>
            <a:endParaRPr sz="18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833AE0"/>
      </a:accent1>
      <a:accent2>
        <a:srgbClr val="FF7842"/>
      </a:accent2>
      <a:accent3>
        <a:srgbClr val="88DBF2"/>
      </a:accent3>
      <a:accent4>
        <a:srgbClr val="38BD60"/>
      </a:accent4>
      <a:accent5>
        <a:srgbClr val="FA82CC"/>
      </a:accent5>
      <a:accent6>
        <a:srgbClr val="FFDC40"/>
      </a:accent6>
      <a:hlink>
        <a:srgbClr val="833AE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833AE0"/>
      </a:accent1>
      <a:accent2>
        <a:srgbClr val="FF7842"/>
      </a:accent2>
      <a:accent3>
        <a:srgbClr val="88DBF2"/>
      </a:accent3>
      <a:accent4>
        <a:srgbClr val="38BD60"/>
      </a:accent4>
      <a:accent5>
        <a:srgbClr val="FA82CC"/>
      </a:accent5>
      <a:accent6>
        <a:srgbClr val="FFDC40"/>
      </a:accent6>
      <a:hlink>
        <a:srgbClr val="833AE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452</TotalTime>
  <Words>1111</Words>
  <Application>Microsoft Office PowerPoint</Application>
  <PresentationFormat>On-screen Show (16:9)</PresentationFormat>
  <Paragraphs>142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Consolas</vt:lpstr>
      <vt:lpstr>Arial</vt:lpstr>
      <vt:lpstr>Montserrat Black</vt:lpstr>
      <vt:lpstr>Times New Roman</vt:lpstr>
      <vt:lpstr>Montserrat</vt:lpstr>
      <vt:lpstr>Montserrat ExtraBold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Rahim Huseynov</cp:lastModifiedBy>
  <cp:revision>6</cp:revision>
  <dcterms:modified xsi:type="dcterms:W3CDTF">2026-09-14T21:02:14Z</dcterms:modified>
</cp:coreProperties>
</file>