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5"/>
  </p:notesMasterIdLst>
  <p:sldIdLst>
    <p:sldId id="256" r:id="rId2"/>
    <p:sldId id="259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4" r:id="rId13"/>
    <p:sldId id="275" r:id="rId14"/>
    <p:sldId id="276" r:id="rId15"/>
    <p:sldId id="277" r:id="rId16"/>
    <p:sldId id="278" r:id="rId17"/>
    <p:sldId id="279" r:id="rId18"/>
    <p:sldId id="280" r:id="rId19"/>
    <p:sldId id="281" r:id="rId20"/>
    <p:sldId id="282" r:id="rId21"/>
    <p:sldId id="284" r:id="rId22"/>
    <p:sldId id="285" r:id="rId23"/>
    <p:sldId id="286" r:id="rId24"/>
    <p:sldId id="287" r:id="rId25"/>
    <p:sldId id="288" r:id="rId26"/>
    <p:sldId id="289" r:id="rId27"/>
    <p:sldId id="290" r:id="rId28"/>
    <p:sldId id="291" r:id="rId29"/>
    <p:sldId id="292" r:id="rId30"/>
    <p:sldId id="293" r:id="rId31"/>
    <p:sldId id="294" r:id="rId32"/>
    <p:sldId id="295" r:id="rId33"/>
    <p:sldId id="296" r:id="rId34"/>
  </p:sldIdLst>
  <p:sldSz cx="9144000" cy="5143500" type="screen16x9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Montserrat" panose="00000500000000000000" pitchFamily="2" charset="-52"/>
      <p:regular r:id="rId40"/>
      <p:bold r:id="rId41"/>
      <p:italic r:id="rId42"/>
      <p:boldItalic r:id="rId43"/>
    </p:embeddedFont>
    <p:embeddedFont>
      <p:font typeface="Montserrat Black" panose="00000A00000000000000" pitchFamily="2" charset="-52"/>
      <p:bold r:id="rId44"/>
      <p:boldItalic r:id="rId45"/>
    </p:embeddedFont>
    <p:embeddedFont>
      <p:font typeface="Montserrat ExtraBold" panose="00000900000000000000" pitchFamily="2" charset="-52"/>
      <p:bold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16D95D4-5E96-408E-BDB5-42D1FBE3105A}">
  <a:tblStyle styleId="{716D95D4-5E96-408E-BDB5-42D1FBE3105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8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9.fntdata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him Huseynov" userId="5c75ed6757465dfb" providerId="LiveId" clId="{EA42048A-7C5B-48D4-905B-44B28AA2696E}"/>
    <pc:docChg chg="undo custSel addSld delSld modSld sldOrd">
      <pc:chgData name="Rahim Huseynov" userId="5c75ed6757465dfb" providerId="LiveId" clId="{EA42048A-7C5B-48D4-905B-44B28AA2696E}" dt="2026-09-15T15:05:18.887" v="5"/>
      <pc:docMkLst>
        <pc:docMk/>
      </pc:docMkLst>
      <pc:sldChg chg="ord">
        <pc:chgData name="Rahim Huseynov" userId="5c75ed6757465dfb" providerId="LiveId" clId="{EA42048A-7C5B-48D4-905B-44B28AA2696E}" dt="2026-09-15T15:05:18.887" v="5"/>
        <pc:sldMkLst>
          <pc:docMk/>
          <pc:sldMk cId="0" sldId="265"/>
        </pc:sldMkLst>
      </pc:sldChg>
      <pc:sldChg chg="ord">
        <pc:chgData name="Rahim Huseynov" userId="5c75ed6757465dfb" providerId="LiveId" clId="{EA42048A-7C5B-48D4-905B-44B28AA2696E}" dt="2026-09-14T14:18:24.070" v="3"/>
        <pc:sldMkLst>
          <pc:docMk/>
          <pc:sldMk cId="0" sldId="275"/>
        </pc:sldMkLst>
      </pc:sldChg>
      <pc:sldChg chg="new del">
        <pc:chgData name="Rahim Huseynov" userId="5c75ed6757465dfb" providerId="LiveId" clId="{EA42048A-7C5B-48D4-905B-44B28AA2696E}" dt="2026-09-14T14:04:00.890" v="1" actId="680"/>
        <pc:sldMkLst>
          <pc:docMk/>
          <pc:sldMk cId="3587467631" sldId="29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533520" y="764280"/>
            <a:ext cx="6704640" cy="37713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az-Latn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4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2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4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5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6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7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9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0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5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6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7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9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32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3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35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6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37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38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9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0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1:notes"/>
          <p:cNvSpPr txBox="1">
            <a:spLocks noGrp="1"/>
          </p:cNvSpPr>
          <p:nvPr>
            <p:ph type="body" idx="1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subTitle" idx="1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2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3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body" idx="4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2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3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4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5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6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-264960" y="2167560"/>
            <a:ext cx="28080" cy="1872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microsoft.com/office/2007/relationships/hdphoto" Target="../media/hdphoto2.wdp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HTML/Element/hr" TargetMode="Externa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40"/>
          <p:cNvSpPr/>
          <p:nvPr/>
        </p:nvSpPr>
        <p:spPr>
          <a:xfrm>
            <a:off x="0" y="0"/>
            <a:ext cx="4571640" cy="5143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0"/>
          <p:cNvSpPr/>
          <p:nvPr/>
        </p:nvSpPr>
        <p:spPr>
          <a:xfrm>
            <a:off x="403200" y="1575000"/>
            <a:ext cx="4211640" cy="1627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2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HTML-səhifə</a:t>
            </a:r>
            <a:endParaRPr sz="3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40"/>
          <p:cNvSpPr/>
          <p:nvPr/>
        </p:nvSpPr>
        <p:spPr>
          <a:xfrm>
            <a:off x="403200" y="1316520"/>
            <a:ext cx="4211640" cy="22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Dərs 2.</a:t>
            </a: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40"/>
          <p:cNvSpPr/>
          <p:nvPr/>
        </p:nvSpPr>
        <p:spPr>
          <a:xfrm>
            <a:off x="360000" y="3554999"/>
            <a:ext cx="4211640" cy="61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400" b="0" i="0" u="none" strike="noStrike" cap="none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400" b="0" i="0" u="none" strike="noStrike" cap="none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HTML </a:t>
            </a:r>
            <a:r>
              <a:rPr lang="az-Latn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nişanlama</a:t>
            </a:r>
            <a:r>
              <a:rPr lang="az-Latn" sz="1400" b="0" i="0" u="none" strike="noStrike" cap="none" dirty="0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dili</a:t>
            </a:r>
            <a:br>
              <a:rPr lang="az-Latn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br>
              <a:rPr lang="az-Latn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br>
              <a:rPr lang="az-Latn" sz="1800" b="0" i="0" u="none" strike="noStrike" cap="none" dirty="0">
                <a:latin typeface="Arial"/>
                <a:ea typeface="Arial"/>
                <a:cs typeface="Arial"/>
                <a:sym typeface="Arial"/>
              </a:rPr>
            </a:br>
            <a:endParaRPr sz="1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640" y="0"/>
            <a:ext cx="4572360" cy="51433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43"/>
          <p:cNvSpPr/>
          <p:nvPr/>
        </p:nvSpPr>
        <p:spPr>
          <a:xfrm>
            <a:off x="368640" y="360000"/>
            <a:ext cx="8286840" cy="442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800" b="0" i="0" u="none" strike="noStrike" cap="none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Sayt</a:t>
            </a:r>
            <a:r>
              <a:rPr lang="az-Latn" sz="4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—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bu, bir və ya bir neçə veb-səhifədir.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3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43"/>
          <p:cNvSpPr/>
          <p:nvPr/>
        </p:nvSpPr>
        <p:spPr>
          <a:xfrm>
            <a:off x="361800" y="2255760"/>
            <a:ext cx="5790960" cy="252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Hər səhifədə müxtəlif növ məlumatlar var: mətn, şəkillər, videolar və s.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8"/>
          <p:cNvSpPr/>
          <p:nvPr/>
        </p:nvSpPr>
        <p:spPr>
          <a:xfrm>
            <a:off x="368640" y="360000"/>
            <a:ext cx="8209080" cy="4423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400" b="0" i="0" u="none" strike="noStrike" cap="none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HTML</a:t>
            </a:r>
            <a:r>
              <a:rPr lang="az-Latn" sz="44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az-Latn" sz="2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(Hyper Text Markup Language) —</a:t>
            </a:r>
            <a:r>
              <a:rPr lang="az-Latn" sz="4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Veb-səhifədə 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məlumatın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>
                <a:latin typeface="Montserrat ExtraBold"/>
                <a:ea typeface="Montserrat ExtraBold"/>
                <a:cs typeface="Montserrat ExtraBold"/>
                <a:sym typeface="Montserrat ExtraBold"/>
              </a:rPr>
              <a:t>nişanlama</a:t>
            </a: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dilidir.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48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48"/>
          <p:cNvSpPr/>
          <p:nvPr/>
        </p:nvSpPr>
        <p:spPr>
          <a:xfrm>
            <a:off x="361800" y="2887560"/>
            <a:ext cx="7992000" cy="1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HTML sənəd - hər bir elementi</a:t>
            </a: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2400" b="0" i="1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teq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vasitəsilə təyin olunduğu səhifənin strukturunun təsviridir.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9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49"/>
          <p:cNvSpPr/>
          <p:nvPr/>
        </p:nvSpPr>
        <p:spPr>
          <a:xfrm>
            <a:off x="360000" y="360000"/>
            <a:ext cx="4211640" cy="44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2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HTML-teqlər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91" y="0"/>
            <a:ext cx="513274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0"/>
          <p:cNvSpPr/>
          <p:nvPr/>
        </p:nvSpPr>
        <p:spPr>
          <a:xfrm>
            <a:off x="368640" y="360000"/>
            <a:ext cx="8194680" cy="2211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800" b="0" i="0" u="none" strike="noStrike" cap="none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Teq:</a:t>
            </a:r>
            <a:r>
              <a:rPr lang="az-Latn" sz="4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səhifənin ayrılıqda hər hansı elementini təsvir edir: mətn, şəkil, cədvəl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və s.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0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63" name="Google Shape;263;p50"/>
          <p:cNvGraphicFramePr/>
          <p:nvPr/>
        </p:nvGraphicFramePr>
        <p:xfrm>
          <a:off x="2980440" y="3203640"/>
          <a:ext cx="3171950" cy="483436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1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64" name="Google Shape;264;p50"/>
          <p:cNvSpPr/>
          <p:nvPr/>
        </p:nvSpPr>
        <p:spPr>
          <a:xfrm>
            <a:off x="3000600" y="293292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1"/>
          <p:cNvSpPr/>
          <p:nvPr/>
        </p:nvSpPr>
        <p:spPr>
          <a:xfrm>
            <a:off x="3000600" y="293292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51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51"/>
          <p:cNvSpPr/>
          <p:nvPr/>
        </p:nvSpPr>
        <p:spPr>
          <a:xfrm>
            <a:off x="1737000" y="1545120"/>
            <a:ext cx="1079640" cy="1079640"/>
          </a:xfrm>
          <a:prstGeom prst="ellipse">
            <a:avLst/>
          </a:prstGeom>
          <a:solidFill>
            <a:srgbClr val="333333"/>
          </a:solidFill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300" b="0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&lt;</a:t>
            </a:r>
            <a:r>
              <a:rPr lang="az-Latn" sz="3300" b="1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az-Latn" sz="3300" b="0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3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51"/>
          <p:cNvSpPr/>
          <p:nvPr/>
        </p:nvSpPr>
        <p:spPr>
          <a:xfrm>
            <a:off x="2997000" y="1940400"/>
            <a:ext cx="3149640" cy="423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Açılış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teqi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3" name="Google Shape;273;p51"/>
          <p:cNvGraphicFramePr/>
          <p:nvPr/>
        </p:nvGraphicFramePr>
        <p:xfrm>
          <a:off x="2980440" y="3203640"/>
          <a:ext cx="3171950" cy="483436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1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4" name="Google Shape;274;p51"/>
          <p:cNvSpPr/>
          <p:nvPr/>
        </p:nvSpPr>
        <p:spPr>
          <a:xfrm>
            <a:off x="2658960" y="2467080"/>
            <a:ext cx="974520" cy="83844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oval" w="med" len="med"/>
          </a:ln>
        </p:spPr>
      </p:sp>
      <p:sp>
        <p:nvSpPr>
          <p:cNvPr id="275" name="Google Shape;275;p51"/>
          <p:cNvSpPr/>
          <p:nvPr/>
        </p:nvSpPr>
        <p:spPr>
          <a:xfrm>
            <a:off x="368640" y="360000"/>
            <a:ext cx="8028000" cy="107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Qoşa teq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2"/>
          <p:cNvSpPr/>
          <p:nvPr/>
        </p:nvSpPr>
        <p:spPr>
          <a:xfrm>
            <a:off x="368640" y="360000"/>
            <a:ext cx="8028000" cy="107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Qoşa teq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52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82" name="Google Shape;282;p52"/>
          <p:cNvGraphicFramePr/>
          <p:nvPr/>
        </p:nvGraphicFramePr>
        <p:xfrm>
          <a:off x="2980440" y="3203640"/>
          <a:ext cx="3171950" cy="483436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1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3" name="Google Shape;283;p52"/>
          <p:cNvSpPr/>
          <p:nvPr/>
        </p:nvSpPr>
        <p:spPr>
          <a:xfrm flipH="1">
            <a:off x="5254920" y="2398320"/>
            <a:ext cx="932760" cy="87300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oval" w="med" len="med"/>
          </a:ln>
        </p:spPr>
      </p:sp>
      <p:sp>
        <p:nvSpPr>
          <p:cNvPr id="284" name="Google Shape;284;p52"/>
          <p:cNvSpPr/>
          <p:nvPr/>
        </p:nvSpPr>
        <p:spPr>
          <a:xfrm>
            <a:off x="6015240" y="1386360"/>
            <a:ext cx="1185120" cy="1185120"/>
          </a:xfrm>
          <a:prstGeom prst="ellipse">
            <a:avLst/>
          </a:prstGeom>
          <a:solidFill>
            <a:srgbClr val="333333"/>
          </a:solidFill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000" b="0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&lt;/</a:t>
            </a:r>
            <a:r>
              <a:rPr lang="az-Latn" sz="3000" b="1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p</a:t>
            </a:r>
            <a:r>
              <a:rPr lang="az-Latn" sz="3000" b="0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&gt;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52"/>
          <p:cNvSpPr/>
          <p:nvPr/>
        </p:nvSpPr>
        <p:spPr>
          <a:xfrm>
            <a:off x="2712840" y="1939680"/>
            <a:ext cx="3149700" cy="4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Bağla</a:t>
            </a: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nış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teqi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52"/>
          <p:cNvSpPr/>
          <p:nvPr/>
        </p:nvSpPr>
        <p:spPr>
          <a:xfrm>
            <a:off x="360000" y="4151520"/>
            <a:ext cx="8423640" cy="6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Te</a:t>
            </a:r>
            <a:r>
              <a:rPr lang="az-Latn" sz="18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q</a:t>
            </a: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qoşadırsa, həmişə </a:t>
            </a: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bağlanmalıdır</a:t>
            </a: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52"/>
          <p:cNvSpPr/>
          <p:nvPr/>
        </p:nvSpPr>
        <p:spPr>
          <a:xfrm>
            <a:off x="3000600" y="293292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53"/>
          <p:cNvSpPr/>
          <p:nvPr/>
        </p:nvSpPr>
        <p:spPr>
          <a:xfrm>
            <a:off x="368640" y="360000"/>
            <a:ext cx="8028000" cy="107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Teqin </a:t>
            </a:r>
            <a:r>
              <a:rPr lang="az-Latn" sz="3600">
                <a:latin typeface="Montserrat Black"/>
                <a:ea typeface="Montserrat Black"/>
                <a:cs typeface="Montserrat Black"/>
                <a:sym typeface="Montserrat Black"/>
              </a:rPr>
              <a:t>kontenti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53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94" name="Google Shape;294;p53"/>
          <p:cNvGraphicFramePr/>
          <p:nvPr/>
        </p:nvGraphicFramePr>
        <p:xfrm>
          <a:off x="2980440" y="3203640"/>
          <a:ext cx="3171950" cy="483436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171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5" name="Google Shape;295;p53"/>
          <p:cNvSpPr/>
          <p:nvPr/>
        </p:nvSpPr>
        <p:spPr>
          <a:xfrm>
            <a:off x="3184560" y="2287440"/>
            <a:ext cx="1130400" cy="94896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oval" w="med" len="med"/>
          </a:ln>
        </p:spPr>
      </p:sp>
      <p:sp>
        <p:nvSpPr>
          <p:cNvPr id="296" name="Google Shape;296;p53"/>
          <p:cNvSpPr/>
          <p:nvPr/>
        </p:nvSpPr>
        <p:spPr>
          <a:xfrm>
            <a:off x="1363320" y="1665360"/>
            <a:ext cx="2244600" cy="7675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300" b="0" i="0" u="none" strike="noStrike" cap="none">
                <a:solidFill>
                  <a:srgbClr val="FFFFFF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Content</a:t>
            </a:r>
            <a:endParaRPr sz="3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53"/>
          <p:cNvSpPr/>
          <p:nvPr/>
        </p:nvSpPr>
        <p:spPr>
          <a:xfrm>
            <a:off x="3000600" y="293292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54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54"/>
          <p:cNvSpPr/>
          <p:nvPr/>
        </p:nvSpPr>
        <p:spPr>
          <a:xfrm>
            <a:off x="339840" y="2887560"/>
            <a:ext cx="7444440" cy="18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Elementin </a:t>
            </a: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kontenti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nəinki mətn, həm də digər element ola bilər.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04" name="Google Shape;304;p54"/>
          <p:cNvGraphicFramePr/>
          <p:nvPr/>
        </p:nvGraphicFramePr>
        <p:xfrm>
          <a:off x="360000" y="1307880"/>
          <a:ext cx="5432400" cy="1324684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Content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05" name="Google Shape;305;p54"/>
          <p:cNvSpPr/>
          <p:nvPr/>
        </p:nvSpPr>
        <p:spPr>
          <a:xfrm>
            <a:off x="368640" y="360000"/>
            <a:ext cx="8028000" cy="1079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Teqin </a:t>
            </a:r>
            <a:r>
              <a:rPr lang="az-Latn" sz="3600">
                <a:latin typeface="Montserrat Black"/>
                <a:ea typeface="Montserrat Black"/>
                <a:cs typeface="Montserrat Black"/>
                <a:sym typeface="Montserrat Black"/>
              </a:rPr>
              <a:t>kontenti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54"/>
          <p:cNvSpPr/>
          <p:nvPr/>
        </p:nvSpPr>
        <p:spPr>
          <a:xfrm>
            <a:off x="368640" y="960480"/>
            <a:ext cx="2630880" cy="420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5"/>
          <p:cNvSpPr/>
          <p:nvPr/>
        </p:nvSpPr>
        <p:spPr>
          <a:xfrm>
            <a:off x="368640" y="360000"/>
            <a:ext cx="8330040" cy="15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Tək</a:t>
            </a:r>
            <a:r>
              <a:rPr lang="az-Latn" sz="3600" b="0" i="0" u="none" strike="noStrike" cap="none"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teq</a:t>
            </a:r>
            <a:endParaRPr sz="3600" b="0" i="0" u="none" strike="noStrike" cap="none"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55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55"/>
          <p:cNvSpPr/>
          <p:nvPr/>
        </p:nvSpPr>
        <p:spPr>
          <a:xfrm>
            <a:off x="368640" y="2898720"/>
            <a:ext cx="8104320" cy="1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Tək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teq qapanma teqinə və </a:t>
            </a: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kontentə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sahib deyil.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14" name="Google Shape;314;p55"/>
          <p:cNvGraphicFramePr/>
          <p:nvPr/>
        </p:nvGraphicFramePr>
        <p:xfrm>
          <a:off x="361800" y="1630440"/>
          <a:ext cx="5430950" cy="483436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5" name="Google Shape;315;p55"/>
          <p:cNvSpPr/>
          <p:nvPr/>
        </p:nvSpPr>
        <p:spPr>
          <a:xfrm>
            <a:off x="368640" y="134136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6"/>
          <p:cNvSpPr/>
          <p:nvPr/>
        </p:nvSpPr>
        <p:spPr>
          <a:xfrm>
            <a:off x="368640" y="360000"/>
            <a:ext cx="8374680" cy="1858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800" b="0" i="0" u="none" strike="noStrike" cap="none">
                <a:solidFill>
                  <a:srgbClr val="434343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Teqin atributu</a:t>
            </a:r>
            <a:r>
              <a:rPr lang="az-Latn" sz="48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—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3000" b="0" i="0" u="none" strike="noStrike" cap="none">
                <a:solidFill>
                  <a:srgbClr val="000000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qayda olaraq teqə atributun köməyi ilə əlavə parametrlər təyin etmək olur.</a:t>
            </a: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56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322" name="Google Shape;322;p56"/>
          <p:cNvGraphicFramePr/>
          <p:nvPr>
            <p:extLst>
              <p:ext uri="{D42A27DB-BD31-4B8C-83A1-F6EECF244321}">
                <p14:modId xmlns:p14="http://schemas.microsoft.com/office/powerpoint/2010/main" val="1821962786"/>
              </p:ext>
            </p:extLst>
          </p:nvPr>
        </p:nvGraphicFramePr>
        <p:xfrm>
          <a:off x="361800" y="3840480"/>
          <a:ext cx="7749350" cy="94285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7749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img</a:t>
                      </a:r>
                      <a:r>
                        <a:rPr lang="az-Latn" sz="24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src=</a:t>
                      </a:r>
                      <a:r>
                        <a:rPr lang="az-Latn" sz="24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en-US" sz="24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https://www.codeimmersives.com/wp-content/uploads/2021/04/term1.png</a:t>
                      </a:r>
                      <a:r>
                        <a:rPr lang="az-Latn" sz="24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24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3" name="Google Shape;323;p56"/>
          <p:cNvSpPr/>
          <p:nvPr/>
        </p:nvSpPr>
        <p:spPr>
          <a:xfrm flipH="1">
            <a:off x="1526760" y="3216960"/>
            <a:ext cx="793800" cy="70128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oval" w="med" len="med"/>
          </a:ln>
        </p:spPr>
      </p:sp>
      <p:sp>
        <p:nvSpPr>
          <p:cNvPr id="324" name="Google Shape;324;p56"/>
          <p:cNvSpPr/>
          <p:nvPr/>
        </p:nvSpPr>
        <p:spPr>
          <a:xfrm>
            <a:off x="1759680" y="2743560"/>
            <a:ext cx="2368080" cy="767520"/>
          </a:xfrm>
          <a:prstGeom prst="roundRect">
            <a:avLst>
              <a:gd name="adj" fmla="val 50000"/>
            </a:avLst>
          </a:prstGeom>
          <a:solidFill>
            <a:srgbClr val="333333"/>
          </a:solidFill>
          <a:ln w="38100" cap="flat" cmpd="sng">
            <a:solidFill>
              <a:srgbClr val="FF78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62C8F3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src=</a:t>
            </a:r>
            <a:r>
              <a:rPr lang="az-Latn" sz="2400" b="0" i="0" u="none" strike="noStrike" cap="none">
                <a:solidFill>
                  <a:srgbClr val="A2FCA2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"https</a:t>
            </a:r>
            <a:r>
              <a:rPr lang="az-Latn" sz="1100" b="0" i="0" u="none" strike="noStrike" cap="none">
                <a:solidFill>
                  <a:srgbClr val="A2FCA2"/>
                </a:solidFill>
                <a:highlight>
                  <a:srgbClr val="333333"/>
                </a:highlight>
                <a:latin typeface="Consolas"/>
                <a:ea typeface="Consolas"/>
                <a:cs typeface="Consolas"/>
                <a:sym typeface="Consolas"/>
              </a:rPr>
              <a:t>...</a:t>
            </a:r>
            <a:endParaRPr sz="1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56"/>
          <p:cNvSpPr/>
          <p:nvPr/>
        </p:nvSpPr>
        <p:spPr>
          <a:xfrm>
            <a:off x="368640" y="355104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8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58"/>
          <p:cNvSpPr/>
          <p:nvPr/>
        </p:nvSpPr>
        <p:spPr>
          <a:xfrm>
            <a:off x="360000" y="360000"/>
            <a:ext cx="4211640" cy="44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HTML-sənədin</a:t>
            </a:r>
            <a:r>
              <a:rPr lang="az-Latn" sz="28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az-Latn" sz="40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Strukturu </a:t>
            </a:r>
            <a:endParaRPr sz="40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4182" y="0"/>
            <a:ext cx="4779458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9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59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HTML sənəd </a:t>
            </a:r>
            <a:br>
              <a:rPr lang="az-Latn" sz="1800" b="0" i="0" u="none" strike="noStrike" cap="none">
                <a:latin typeface="Arial"/>
                <a:ea typeface="Arial"/>
                <a:cs typeface="Arial"/>
                <a:sym typeface="Arial"/>
              </a:rPr>
            </a:br>
            <a:r>
              <a:rPr lang="az-Latn" sz="18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doctype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teqi ilə başlayır, brauzerə qarşısında HTML dilində yazılmış səhifənin olduğunu anlamağa imkan verir.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0" name="Google Shape;350;p59"/>
          <p:cNvGraphicFramePr/>
          <p:nvPr/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60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60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&lt;html&gt; —</a:t>
            </a:r>
            <a:r>
              <a:rPr lang="az-Latn" sz="2400" b="1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bütün səhifənin saxlanıldığı əsas elementi göstərən qoşa teqdir.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7" name="Google Shape;357;p60"/>
          <p:cNvGraphicFramePr/>
          <p:nvPr/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18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...</a:t>
                      </a:r>
                      <a:br>
                        <a:rPr lang="az-Latn" sz="1800" u="none" strike="noStrike" cap="none"/>
                      </a:b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61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61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lang </a:t>
            </a:r>
            <a:r>
              <a:rPr lang="az-Latn" sz="24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atributu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 — 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səhifənin hansı dildə yazıldığını göstərən iki hərfdən ibarət koddur.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64" name="Google Shape;364;p61"/>
          <p:cNvGraphicFramePr/>
          <p:nvPr>
            <p:extLst>
              <p:ext uri="{D42A27DB-BD31-4B8C-83A1-F6EECF244321}">
                <p14:modId xmlns:p14="http://schemas.microsoft.com/office/powerpoint/2010/main" val="730207759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...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62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62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head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elementi brauzerin səhifəni düzgün göstərməsinə kömək edən məlumatları</a:t>
            </a:r>
            <a:r>
              <a:rPr lang="az-Latn" sz="24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içərir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1" name="Google Shape;371;p62"/>
          <p:cNvGraphicFramePr/>
          <p:nvPr>
            <p:extLst>
              <p:ext uri="{D42A27DB-BD31-4B8C-83A1-F6EECF244321}">
                <p14:modId xmlns:p14="http://schemas.microsoft.com/office/powerpoint/2010/main" val="4161164870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63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63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&lt;title&gt; </a:t>
            </a: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səhifənin başlığını bildirir.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78" name="Google Shape;378;p63"/>
          <p:cNvGraphicFramePr/>
          <p:nvPr>
            <p:extLst>
              <p:ext uri="{D42A27DB-BD31-4B8C-83A1-F6EECF244321}">
                <p14:modId xmlns:p14="http://schemas.microsoft.com/office/powerpoint/2010/main" val="533928929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4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64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3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&lt;meta&gt;</a:t>
            </a:r>
            <a:r>
              <a:rPr lang="az-Latn" sz="23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- brauzer və axtarış robotları üçün əlavə məlumat </a:t>
            </a:r>
            <a:r>
              <a:rPr lang="az-Latn" sz="23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içərir</a:t>
            </a:r>
            <a:r>
              <a:rPr lang="az-Latn" sz="23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3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85" name="Google Shape;385;p64"/>
          <p:cNvGraphicFramePr/>
          <p:nvPr>
            <p:extLst>
              <p:ext uri="{D42A27DB-BD31-4B8C-83A1-F6EECF244321}">
                <p14:modId xmlns:p14="http://schemas.microsoft.com/office/powerpoint/2010/main" val="1430108239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charset=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5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5"/>
          <p:cNvSpPr/>
          <p:nvPr/>
        </p:nvSpPr>
        <p:spPr>
          <a:xfrm>
            <a:off x="6152760" y="991800"/>
            <a:ext cx="263088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body </a:t>
            </a:r>
            <a:r>
              <a:rPr lang="az-Latn" sz="1800">
                <a:solidFill>
                  <a:schemeClr val="dk1"/>
                </a:solidFill>
                <a:highlight>
                  <a:schemeClr val="lt1"/>
                </a:highlight>
                <a:latin typeface="Montserrat"/>
                <a:ea typeface="Montserrat"/>
                <a:cs typeface="Montserrat"/>
                <a:sym typeface="Montserrat"/>
              </a:rPr>
              <a:t>elementi </a:t>
            </a: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səhifənin görünən hissəsini </a:t>
            </a:r>
            <a:r>
              <a:rPr lang="az-Latn" sz="180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içərir</a:t>
            </a:r>
            <a:r>
              <a:rPr lang="az-Latn" sz="18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 Body-də yerləşən bütün elementlər istifadəçi tərəfindən görünür.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2" name="Google Shape;392;p65"/>
          <p:cNvGraphicFramePr/>
          <p:nvPr>
            <p:extLst>
              <p:ext uri="{D42A27DB-BD31-4B8C-83A1-F6EECF244321}">
                <p14:modId xmlns:p14="http://schemas.microsoft.com/office/powerpoint/2010/main" val="1639842913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charset=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az-Latn" sz="1800" b="0" u="none" strike="noStrike" cap="none" dirty="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66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66"/>
          <p:cNvSpPr/>
          <p:nvPr/>
        </p:nvSpPr>
        <p:spPr>
          <a:xfrm>
            <a:off x="5972760" y="991800"/>
            <a:ext cx="3113640" cy="348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HTML sənədin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 Black"/>
                <a:ea typeface="Montserrat Black"/>
                <a:cs typeface="Montserrat Black"/>
                <a:sym typeface="Montserrat Black"/>
              </a:rPr>
              <a:t>əsas strukturu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belə görünür</a:t>
            </a:r>
            <a:r>
              <a:rPr lang="az-Latn" sz="2400" i="0" u="none" strike="noStrike" cap="none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99" name="Google Shape;399;p66"/>
          <p:cNvGraphicFramePr/>
          <p:nvPr>
            <p:extLst>
              <p:ext uri="{D42A27DB-BD31-4B8C-83A1-F6EECF244321}">
                <p14:modId xmlns:p14="http://schemas.microsoft.com/office/powerpoint/2010/main" val="756436658"/>
              </p:ext>
            </p:extLst>
          </p:nvPr>
        </p:nvGraphicFramePr>
        <p:xfrm>
          <a:off x="360000" y="991800"/>
          <a:ext cx="5432400" cy="3465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65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C9B9B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&lt;!DOCTYPE html&gt;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lang=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-AZ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en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title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meta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charset=</a:t>
                      </a:r>
                      <a:r>
                        <a:rPr lang="az-Latn" sz="1800" b="0" u="none" strike="noStrike" cap="none" dirty="0">
                          <a:solidFill>
                            <a:srgbClr val="A2FCA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"UTF-8"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head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 ...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body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 dirty="0"/>
                      </a:b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html</a:t>
                      </a:r>
                      <a:r>
                        <a:rPr lang="az-Latn" sz="1800" b="0" u="none" strike="noStrike" cap="none" dirty="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68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68"/>
          <p:cNvSpPr/>
          <p:nvPr/>
        </p:nvSpPr>
        <p:spPr>
          <a:xfrm>
            <a:off x="512280" y="1939680"/>
            <a:ext cx="6329520" cy="252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 panose="020B0604020202020204" pitchFamily="34" charset="0"/>
              <a:buChar char="•"/>
            </a:pPr>
            <a:r>
              <a:rPr lang="az-Latn-AZ" sz="2400" dirty="0"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az-Latn" sz="2400" b="0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ənədin başlığı və gövdəsini əlavə edərək HTML sənədinin strukturunu yaradın.</a:t>
            </a:r>
            <a:endParaRPr sz="24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68"/>
          <p:cNvSpPr/>
          <p:nvPr/>
        </p:nvSpPr>
        <p:spPr>
          <a:xfrm>
            <a:off x="368648" y="360000"/>
            <a:ext cx="6909000" cy="1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-AZ" sz="36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Task 1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69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69"/>
          <p:cNvSpPr/>
          <p:nvPr/>
        </p:nvSpPr>
        <p:spPr>
          <a:xfrm>
            <a:off x="360000" y="360000"/>
            <a:ext cx="4211640" cy="44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4200" b="0" i="0" u="none" strike="noStrike" cap="none">
                <a:solidFill>
                  <a:srgbClr val="FFFFFF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Mətn elementləri</a:t>
            </a:r>
            <a:endParaRPr sz="4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0891" y="0"/>
            <a:ext cx="5132749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0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Mətn paraqrafı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(paragraph)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36" name="Google Shape;436;p70"/>
          <p:cNvGraphicFramePr/>
          <p:nvPr/>
        </p:nvGraphicFramePr>
        <p:xfrm>
          <a:off x="360000" y="2887560"/>
          <a:ext cx="5432400" cy="94285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 here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 here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7" name="Google Shape;437;p70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70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9" name="Google Shape;439;p70"/>
          <p:cNvSpPr/>
          <p:nvPr/>
        </p:nvSpPr>
        <p:spPr>
          <a:xfrm>
            <a:off x="341640" y="1314360"/>
            <a:ext cx="545076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Özündə mətn saxlayan element.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70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70"/>
          <p:cNvPicPr preferRelativeResize="0"/>
          <p:nvPr/>
        </p:nvPicPr>
        <p:blipFill rotWithShape="1">
          <a:blip r:embed="rId3">
            <a:alphaModFix/>
          </a:blip>
          <a:srcRect t="18928" r="-22657" b="14583"/>
          <a:stretch/>
        </p:blipFill>
        <p:spPr>
          <a:xfrm>
            <a:off x="6152760" y="2887560"/>
            <a:ext cx="2630880" cy="96480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1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Növbəti sətirə keçmə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(line break)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49" name="Google Shape;449;p71"/>
          <p:cNvGraphicFramePr/>
          <p:nvPr/>
        </p:nvGraphicFramePr>
        <p:xfrm>
          <a:off x="360000" y="2887560"/>
          <a:ext cx="5432400" cy="1458478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text here 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and here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30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0" name="Google Shape;450;p71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71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71"/>
          <p:cNvSpPr/>
          <p:nvPr/>
        </p:nvSpPr>
        <p:spPr>
          <a:xfrm>
            <a:off x="341640" y="1314360"/>
            <a:ext cx="545076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 mətn blokunun içərisində sə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tirdən-sətirə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keçiri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r (şeirlər, kontaktlar və s.).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71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56" name="Google Shape;456;p71"/>
          <p:cNvPicPr preferRelativeResize="0"/>
          <p:nvPr/>
        </p:nvPicPr>
        <p:blipFill rotWithShape="1">
          <a:blip r:embed="rId3">
            <a:alphaModFix/>
          </a:blip>
          <a:srcRect t="-12149" r="-42429" b="-23974"/>
          <a:stretch/>
        </p:blipFill>
        <p:spPr>
          <a:xfrm>
            <a:off x="6152760" y="2887560"/>
            <a:ext cx="2630880" cy="138384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72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72"/>
          <p:cNvSpPr/>
          <p:nvPr/>
        </p:nvSpPr>
        <p:spPr>
          <a:xfrm>
            <a:off x="368640" y="360000"/>
            <a:ext cx="833004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24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Paraqrafları ayırmaq üçün &lt;br&gt; istifadə etmirik.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72"/>
          <p:cNvSpPr/>
          <p:nvPr/>
        </p:nvSpPr>
        <p:spPr>
          <a:xfrm>
            <a:off x="4740840" y="991800"/>
            <a:ext cx="4042800" cy="3833280"/>
          </a:xfrm>
          <a:prstGeom prst="roundRect">
            <a:avLst>
              <a:gd name="adj" fmla="val 4317"/>
            </a:avLst>
          </a:prstGeom>
          <a:solidFill>
            <a:srgbClr val="88DB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4" name="Google Shape;464;p7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2280" y="1058400"/>
            <a:ext cx="401040" cy="41256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72"/>
          <p:cNvSpPr/>
          <p:nvPr/>
        </p:nvSpPr>
        <p:spPr>
          <a:xfrm>
            <a:off x="360000" y="991800"/>
            <a:ext cx="4042800" cy="3833280"/>
          </a:xfrm>
          <a:prstGeom prst="roundRect">
            <a:avLst>
              <a:gd name="adj" fmla="val 4317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466" name="Google Shape;466;p72"/>
          <p:cNvGraphicFramePr/>
          <p:nvPr/>
        </p:nvGraphicFramePr>
        <p:xfrm>
          <a:off x="4853520" y="1532520"/>
          <a:ext cx="3800150" cy="3231779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8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 u="none" strike="noStrike" cap="none">
                          <a:solidFill>
                            <a:schemeClr val="accent6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Proqramlaşdırma məntiqi təfəkkürün inkişafına kömək edir və  səbəb-nəticə əlaqələri qurmağı öyrədir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</a:t>
                      </a:r>
                      <a:r>
                        <a:rPr lang="az-Latn" sz="12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Proqramlaşdırma XXI əsrdə tələb olunan peşələrdən birinə sahib olmaq üçün lazımdır.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2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200" u="none" strike="noStrike" cap="none"/>
                      </a:b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Bizim ünvanımız:</a:t>
                      </a:r>
                      <a:r>
                        <a:rPr lang="az-Latn" sz="120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1200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119034, Moskva, 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Zemlyanoy val, b. 59, s.2.</a:t>
                      </a:r>
                      <a:br>
                        <a:rPr lang="az-Latn" sz="1200" u="none" strike="noStrike" cap="none"/>
                      </a:b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67" name="Google Shape;467;p7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0440" y="1058400"/>
            <a:ext cx="401040" cy="4125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8" name="Google Shape;468;p72"/>
          <p:cNvGraphicFramePr/>
          <p:nvPr/>
        </p:nvGraphicFramePr>
        <p:xfrm>
          <a:off x="481320" y="1532520"/>
          <a:ext cx="3800150" cy="317485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8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7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Proqramlaşdırma məntiqi təfəkkürün inkişafına kömək edir və  səbəb-nəticə əlaqələri qurmağı öyrədir  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az-Latn" sz="1200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1200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None/>
                      </a:pPr>
                      <a:r>
                        <a:rPr lang="az-Latn" sz="1200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200" b="1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br</a:t>
                      </a:r>
                      <a:r>
                        <a:rPr lang="az-Latn" sz="1200">
                          <a:solidFill>
                            <a:schemeClr val="accent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Proqramlaşdırma XXI əsrdə tələb 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olunan peşələrdən birinə sahib olmaq üçün lazımdır.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3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5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Qalın yazı tipi</a:t>
            </a:r>
            <a:r>
              <a:rPr lang="az-Latn" sz="3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(bold)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74" name="Google Shape;474;p73"/>
          <p:cNvGraphicFramePr/>
          <p:nvPr/>
        </p:nvGraphicFramePr>
        <p:xfrm>
          <a:off x="360000" y="2887560"/>
          <a:ext cx="5432400" cy="1044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44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bold text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30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5" name="Google Shape;475;p73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73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73"/>
          <p:cNvSpPr/>
          <p:nvPr/>
        </p:nvSpPr>
        <p:spPr>
          <a:xfrm>
            <a:off x="341640" y="1314360"/>
            <a:ext cx="545076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Mətn elementinə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qalın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şrift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stilini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tətbiq edir.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73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9" name="Google Shape;479;p73"/>
          <p:cNvPicPr preferRelativeResize="0"/>
          <p:nvPr/>
        </p:nvPicPr>
        <p:blipFill rotWithShape="1">
          <a:blip r:embed="rId3">
            <a:alphaModFix/>
          </a:blip>
          <a:srcRect t="-25606" r="-27312" b="-20192"/>
          <a:stretch/>
        </p:blipFill>
        <p:spPr>
          <a:xfrm>
            <a:off x="6152760" y="2905200"/>
            <a:ext cx="2630880" cy="93024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74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Çox əhəmiyyətli mətn </a:t>
            </a:r>
            <a:r>
              <a:rPr lang="az-Latn" sz="21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(strong importance)</a:t>
            </a:r>
            <a:endParaRPr sz="21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87" name="Google Shape;487;p74"/>
          <p:cNvGraphicFramePr/>
          <p:nvPr/>
        </p:nvGraphicFramePr>
        <p:xfrm>
          <a:off x="360000" y="2865240"/>
          <a:ext cx="5432400" cy="90406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2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strong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Warning: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strong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  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dangerous dungeon here.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88" name="Google Shape;488;p74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74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74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74"/>
          <p:cNvSpPr/>
          <p:nvPr/>
        </p:nvSpPr>
        <p:spPr>
          <a:xfrm>
            <a:off x="341640" y="1314360"/>
            <a:ext cx="543240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 xüsusi diqqət tələb edən vacib mətni fərqləndirir.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2" name="Google Shape;492;p74"/>
          <p:cNvPicPr preferRelativeResize="0"/>
          <p:nvPr/>
        </p:nvPicPr>
        <p:blipFill rotWithShape="1">
          <a:blip r:embed="rId3">
            <a:alphaModFix/>
          </a:blip>
          <a:srcRect t="-98321" b="-98321"/>
          <a:stretch/>
        </p:blipFill>
        <p:spPr>
          <a:xfrm>
            <a:off x="6152760" y="2865240"/>
            <a:ext cx="2630880" cy="96480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75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2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Kursiv yazı tipi</a:t>
            </a:r>
            <a:r>
              <a:rPr lang="az-Latn" sz="30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(italic)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00" name="Google Shape;500;p75"/>
          <p:cNvGraphicFramePr/>
          <p:nvPr/>
        </p:nvGraphicFramePr>
        <p:xfrm>
          <a:off x="360000" y="2887560"/>
          <a:ext cx="5432400" cy="145260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4526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italic text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30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1" name="Google Shape;501;p75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75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75"/>
          <p:cNvSpPr/>
          <p:nvPr/>
        </p:nvSpPr>
        <p:spPr>
          <a:xfrm>
            <a:off x="341640" y="1314360"/>
            <a:ext cx="545076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kursiv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şrift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stilini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tətbiq edir.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75"/>
          <p:cNvPicPr preferRelativeResize="0"/>
          <p:nvPr/>
        </p:nvPicPr>
        <p:blipFill rotWithShape="1">
          <a:blip r:embed="rId3">
            <a:alphaModFix/>
          </a:blip>
          <a:srcRect t="-42297" r="-24028" b="-42297"/>
          <a:stretch/>
        </p:blipFill>
        <p:spPr>
          <a:xfrm>
            <a:off x="6152760" y="2904840"/>
            <a:ext cx="2630880" cy="92520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05" name="Google Shape;505;p75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76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Vurğulu mətn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(emphasis)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13" name="Google Shape;513;p76"/>
          <p:cNvGraphicFramePr/>
          <p:nvPr/>
        </p:nvGraphicFramePr>
        <p:xfrm>
          <a:off x="360000" y="2887560"/>
          <a:ext cx="5432400" cy="94285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42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Cats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are cute animals.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4" name="Google Shape;514;p76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76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76"/>
          <p:cNvSpPr/>
          <p:nvPr/>
        </p:nvSpPr>
        <p:spPr>
          <a:xfrm>
            <a:off x="341640" y="1314360"/>
            <a:ext cx="52592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 vurğulu 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qeyd olunmalı mətni göstərir.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76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18" name="Google Shape;518;p76"/>
          <p:cNvPicPr preferRelativeResize="0"/>
          <p:nvPr/>
        </p:nvPicPr>
        <p:blipFill rotWithShape="1">
          <a:blip r:embed="rId3">
            <a:alphaModFix/>
          </a:blip>
          <a:srcRect t="-47455" r="-22778" b="-47456"/>
          <a:stretch/>
        </p:blipFill>
        <p:spPr>
          <a:xfrm>
            <a:off x="6152760" y="2887560"/>
            <a:ext cx="2630880" cy="96480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9" name="Google Shape;519;p76"/>
          <p:cNvSpPr/>
          <p:nvPr/>
        </p:nvSpPr>
        <p:spPr>
          <a:xfrm>
            <a:off x="8407088" y="1632913"/>
            <a:ext cx="192900" cy="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77"/>
          <p:cNvSpPr/>
          <p:nvPr/>
        </p:nvSpPr>
        <p:spPr>
          <a:xfrm>
            <a:off x="4740840" y="2820600"/>
            <a:ext cx="4042800" cy="1977120"/>
          </a:xfrm>
          <a:prstGeom prst="roundRect">
            <a:avLst>
              <a:gd name="adj" fmla="val 4317"/>
            </a:avLst>
          </a:prstGeom>
          <a:solidFill>
            <a:srgbClr val="88DB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7" name="Google Shape;527;p7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2280" y="2887200"/>
            <a:ext cx="401040" cy="412560"/>
          </a:xfrm>
          <a:prstGeom prst="rect">
            <a:avLst/>
          </a:prstGeom>
          <a:noFill/>
          <a:ln>
            <a:noFill/>
          </a:ln>
        </p:spPr>
      </p:pic>
      <p:sp>
        <p:nvSpPr>
          <p:cNvPr id="528" name="Google Shape;528;p77"/>
          <p:cNvSpPr/>
          <p:nvPr/>
        </p:nvSpPr>
        <p:spPr>
          <a:xfrm>
            <a:off x="360000" y="2820600"/>
            <a:ext cx="4042800" cy="1977120"/>
          </a:xfrm>
          <a:prstGeom prst="roundRect">
            <a:avLst>
              <a:gd name="adj" fmla="val 7989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9" name="Google Shape;529;p7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80440" y="2887200"/>
            <a:ext cx="401040" cy="41256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77"/>
          <p:cNvSpPr/>
          <p:nvPr/>
        </p:nvSpPr>
        <p:spPr>
          <a:xfrm>
            <a:off x="368640" y="360000"/>
            <a:ext cx="8330040" cy="5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b, i və strong, em arasındaki fərq </a:t>
            </a:r>
            <a:endParaRPr sz="3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1" name="Google Shape;531;p77"/>
          <p:cNvGraphicFramePr/>
          <p:nvPr/>
        </p:nvGraphicFramePr>
        <p:xfrm>
          <a:off x="481320" y="3387960"/>
          <a:ext cx="3800150" cy="69840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8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6984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1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1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strong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bold text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100" b="1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strong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 some 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italic text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100" b="1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em</a:t>
                      </a:r>
                      <a:r>
                        <a:rPr lang="az-Latn" sz="1100" b="0" u="none" strike="noStrike" cap="none">
                          <a:solidFill>
                            <a:srgbClr val="FF7842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 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2" name="Google Shape;532;p77"/>
          <p:cNvSpPr/>
          <p:nvPr/>
        </p:nvSpPr>
        <p:spPr>
          <a:xfrm>
            <a:off x="368640" y="991800"/>
            <a:ext cx="8385840" cy="1828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Vizual olaraq kod eyni görünür, lakin müxtəlif nitq sint</a:t>
            </a:r>
            <a:r>
              <a:rPr lang="az-Latn" sz="1800">
                <a:latin typeface="Montserrat"/>
                <a:ea typeface="Montserrat"/>
                <a:cs typeface="Montserrat"/>
                <a:sym typeface="Montserrat"/>
              </a:rPr>
              <a:t>e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zatoru, screenreader və axtarış robotları tərəfindən fərqli qəbul olunacaqdır.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001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Mətn məntiqi ifadə qeydi tələb etmirsə, </a:t>
            </a:r>
            <a:r>
              <a:rPr lang="az-Latn" sz="1800" b="0" i="1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və </a:t>
            </a:r>
            <a:r>
              <a:rPr lang="az-Latn" sz="1800" b="0" i="1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i</a:t>
            </a: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istifadə edin.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33" name="Google Shape;533;p77"/>
          <p:cNvGraphicFramePr/>
          <p:nvPr/>
        </p:nvGraphicFramePr>
        <p:xfrm>
          <a:off x="4852440" y="3387960"/>
          <a:ext cx="3800150" cy="101125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38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0112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1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1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 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Some 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bold text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1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and some 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1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italic text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1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</a:t>
                      </a:r>
                      <a:r>
                        <a:rPr lang="az-Latn" sz="11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1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 here</a:t>
                      </a:r>
                      <a:endParaRPr sz="11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2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12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2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" name="Google Shape;534;p77"/>
          <p:cNvSpPr/>
          <p:nvPr/>
        </p:nvSpPr>
        <p:spPr>
          <a:xfrm>
            <a:off x="471960" y="4201200"/>
            <a:ext cx="3799800" cy="452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77"/>
          <p:cNvSpPr/>
          <p:nvPr/>
        </p:nvSpPr>
        <p:spPr>
          <a:xfrm>
            <a:off x="4842720" y="4201200"/>
            <a:ext cx="3799800" cy="45216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6" name="Google Shape;536;p77"/>
          <p:cNvPicPr preferRelativeResize="0"/>
          <p:nvPr/>
        </p:nvPicPr>
        <p:blipFill rotWithShape="1">
          <a:blip r:embed="rId5">
            <a:alphaModFix/>
          </a:blip>
          <a:srcRect l="-4550" t="45761" r="-4902" b="-4073"/>
          <a:stretch/>
        </p:blipFill>
        <p:spPr>
          <a:xfrm>
            <a:off x="482400" y="4212000"/>
            <a:ext cx="3799800" cy="4521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537" name="Google Shape;537;p77"/>
          <p:cNvPicPr preferRelativeResize="0"/>
          <p:nvPr/>
        </p:nvPicPr>
        <p:blipFill rotWithShape="1">
          <a:blip r:embed="rId5">
            <a:alphaModFix/>
          </a:blip>
          <a:srcRect l="-5919" t="45761" r="-3534" b="-4073"/>
          <a:stretch/>
        </p:blipFill>
        <p:spPr>
          <a:xfrm>
            <a:off x="4853520" y="4212000"/>
            <a:ext cx="3799800" cy="45216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78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5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Ayırıcı xətt</a:t>
            </a: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az-Latn" sz="23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(horizontal rule</a:t>
            </a:r>
            <a:r>
              <a:rPr lang="az-Latn" sz="25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endParaRPr sz="25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43" name="Google Shape;543;p78"/>
          <p:cNvGraphicFramePr/>
          <p:nvPr/>
        </p:nvGraphicFramePr>
        <p:xfrm>
          <a:off x="360000" y="2887560"/>
          <a:ext cx="5432400" cy="1350725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3507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First paragraph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hr</a:t>
                      </a:r>
                      <a:r>
                        <a:rPr lang="az-Latn" sz="2400" b="0" u="none" strike="noStrike" cap="none">
                          <a:solidFill>
                            <a:srgbClr val="FFDC40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24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Second paragraph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24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</a:t>
                      </a:r>
                      <a:r>
                        <a:rPr lang="az-Latn" sz="24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24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44" name="Google Shape;544;p78"/>
          <p:cNvSpPr/>
          <p:nvPr/>
        </p:nvSpPr>
        <p:spPr>
          <a:xfrm>
            <a:off x="368640" y="256068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78"/>
          <p:cNvSpPr/>
          <p:nvPr/>
        </p:nvSpPr>
        <p:spPr>
          <a:xfrm>
            <a:off x="6152760" y="256068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78"/>
          <p:cNvSpPr/>
          <p:nvPr/>
        </p:nvSpPr>
        <p:spPr>
          <a:xfrm>
            <a:off x="341640" y="1314360"/>
            <a:ext cx="5432400" cy="9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Element yeni bir mövzu və ya bölmə təyin edən üfüqi bir xətt əlavə edir.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78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8" name="Google Shape;548;p78"/>
          <p:cNvPicPr preferRelativeResize="0"/>
          <p:nvPr/>
        </p:nvPicPr>
        <p:blipFill rotWithShape="1">
          <a:blip r:embed="rId3">
            <a:alphaModFix/>
          </a:blip>
          <a:srcRect t="-19949" b="-23501"/>
          <a:stretch/>
        </p:blipFill>
        <p:spPr>
          <a:xfrm>
            <a:off x="6152760" y="2904840"/>
            <a:ext cx="2590200" cy="1383840"/>
          </a:xfrm>
          <a:prstGeom prst="rect">
            <a:avLst/>
          </a:prstGeom>
          <a:noFill/>
          <a:ln w="9525" cap="flat" cmpd="sng">
            <a:solidFill>
              <a:srgbClr val="33333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49" name="Google Shape;549;p78"/>
          <p:cNvSpPr/>
          <p:nvPr/>
        </p:nvSpPr>
        <p:spPr>
          <a:xfrm>
            <a:off x="8407088" y="1632913"/>
            <a:ext cx="192900" cy="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79"/>
          <p:cNvSpPr/>
          <p:nvPr/>
        </p:nvSpPr>
        <p:spPr>
          <a:xfrm>
            <a:off x="368640" y="360000"/>
            <a:ext cx="833004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Başlıqlar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 </a:t>
            </a:r>
            <a:r>
              <a:rPr lang="az-Latn" sz="24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(headings)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557" name="Google Shape;557;p79"/>
          <p:cNvGraphicFramePr/>
          <p:nvPr/>
        </p:nvGraphicFramePr>
        <p:xfrm>
          <a:off x="360000" y="2583000"/>
          <a:ext cx="5432400" cy="1668790"/>
        </p:xfrm>
        <a:graphic>
          <a:graphicData uri="http://schemas.openxmlformats.org/drawingml/2006/table">
            <a:tbl>
              <a:tblPr>
                <a:noFill/>
                <a:tableStyleId>{716D95D4-5E96-408E-BDB5-42D1FBE3105A}</a:tableStyleId>
              </a:tblPr>
              <a:tblGrid>
                <a:gridCol w="543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6516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h1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Səhifə başlığı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h1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Səhifənin böyük hissəsinin başlığı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h2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br>
                        <a:rPr lang="az-Latn" sz="1800" u="none" strike="noStrike" cap="none"/>
                      </a:b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h3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r>
                        <a:rPr lang="az-Latn" sz="1800" b="0" u="none" strike="noStrike" cap="none">
                          <a:solidFill>
                            <a:srgbClr val="FFFFFF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Səhifə kiçik ayrı-ayrı bölmə başlıqları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&lt;/</a:t>
                      </a:r>
                      <a:r>
                        <a:rPr lang="az-Latn" sz="1800" b="1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h3</a:t>
                      </a:r>
                      <a:r>
                        <a:rPr lang="az-Latn" sz="1800" b="0" u="none" strike="noStrike" cap="none">
                          <a:solidFill>
                            <a:srgbClr val="62C8F3"/>
                          </a:solidFill>
                          <a:highlight>
                            <a:srgbClr val="333333"/>
                          </a:highlight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&gt;</a:t>
                      </a:r>
                      <a:endParaRPr sz="1800" b="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63350" marR="63350" marT="45725" marB="45725">
                    <a:solidFill>
                      <a:srgbClr val="3333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8" name="Google Shape;558;p79"/>
          <p:cNvSpPr/>
          <p:nvPr/>
        </p:nvSpPr>
        <p:spPr>
          <a:xfrm>
            <a:off x="368640" y="2255760"/>
            <a:ext cx="263088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200" b="0" i="1" u="none" strike="noStrike" cap="none">
                <a:solidFill>
                  <a:srgbClr val="595959"/>
                </a:solidFill>
                <a:latin typeface="Montserrat"/>
                <a:ea typeface="Montserrat"/>
                <a:cs typeface="Montserrat"/>
                <a:sym typeface="Montserrat"/>
              </a:rPr>
              <a:t>HTML</a:t>
            </a:r>
            <a:endParaRPr sz="12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9" name="Google Shape;559;p79"/>
          <p:cNvSpPr/>
          <p:nvPr/>
        </p:nvSpPr>
        <p:spPr>
          <a:xfrm>
            <a:off x="6152760" y="2255760"/>
            <a:ext cx="1296360" cy="344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0" name="Google Shape;560;p79"/>
          <p:cNvSpPr/>
          <p:nvPr/>
        </p:nvSpPr>
        <p:spPr>
          <a:xfrm>
            <a:off x="341640" y="1314360"/>
            <a:ext cx="543240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Müxtəlif əhəmiyyətli səviyyələrdə başlıqlar.</a:t>
            </a:r>
            <a:endParaRPr sz="18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1" name="Google Shape;561;p79"/>
          <p:cNvSpPr/>
          <p:nvPr/>
        </p:nvSpPr>
        <p:spPr>
          <a:xfrm>
            <a:off x="6284160" y="1307160"/>
            <a:ext cx="1699920" cy="63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2" name="Google Shape;562;p79"/>
          <p:cNvSpPr/>
          <p:nvPr/>
        </p:nvSpPr>
        <p:spPr>
          <a:xfrm>
            <a:off x="8407088" y="1632913"/>
            <a:ext cx="192900" cy="19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4" name="Google Shape;564;p79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59633" y="1451607"/>
            <a:ext cx="301274" cy="34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79"/>
          <p:cNvPicPr preferRelativeResize="0"/>
          <p:nvPr/>
        </p:nvPicPr>
        <p:blipFill rotWithShape="1">
          <a:blip r:embed="rId5">
            <a:alphaModFix/>
          </a:blip>
          <a:srcRect l="6428" t="5015"/>
          <a:stretch/>
        </p:blipFill>
        <p:spPr>
          <a:xfrm>
            <a:off x="6284150" y="2599925"/>
            <a:ext cx="2388525" cy="187272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80"/>
          <p:cNvSpPr/>
          <p:nvPr/>
        </p:nvSpPr>
        <p:spPr>
          <a:xfrm>
            <a:off x="8784000" y="4457880"/>
            <a:ext cx="192600" cy="1944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80"/>
          <p:cNvSpPr/>
          <p:nvPr/>
        </p:nvSpPr>
        <p:spPr>
          <a:xfrm>
            <a:off x="368640" y="360000"/>
            <a:ext cx="6641640" cy="12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36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Ta</a:t>
            </a:r>
            <a:r>
              <a:rPr lang="az-Latn-AZ" sz="3600" b="0" i="0" u="none" strike="noStrike" cap="none" dirty="0">
                <a:solidFill>
                  <a:srgbClr val="000000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sk 2</a:t>
            </a:r>
            <a:endParaRPr sz="3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80"/>
          <p:cNvSpPr/>
          <p:nvPr/>
        </p:nvSpPr>
        <p:spPr>
          <a:xfrm>
            <a:off x="436320" y="1623960"/>
            <a:ext cx="6845760" cy="31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az-Latn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HTML sənədi tamamlayın.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08150" marR="0" lvl="0" indent="-28575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az-Latn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Adınızı başlıqda qeyd edin.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08150" marR="0" lvl="0" indent="-28575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az-Latn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Ayrı bir paraqrafda, e-poçt ünvanınızı  və hər hansı bir sosial şəbəkədə ləqəbinizi qeyd edin.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408150" marR="0" lvl="0" indent="-285750" algn="l" rtl="0">
              <a:lnSpc>
                <a:spcPct val="100000"/>
              </a:lnSpc>
              <a:spcBef>
                <a:spcPts val="1001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 panose="020B0604020202020204" pitchFamily="34" charset="0"/>
              <a:buChar char="•"/>
            </a:pPr>
            <a:r>
              <a:rPr lang="az-Latn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Kontaktları qalın və </a:t>
            </a:r>
            <a:r>
              <a:rPr lang="az-Latn" sz="1800" dirty="0"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kursiv</a:t>
            </a:r>
            <a:r>
              <a:rPr lang="az-Latn" sz="1800" b="0" i="0" u="none" strike="noStrike" cap="none" dirty="0">
                <a:solidFill>
                  <a:srgbClr val="000000"/>
                </a:solidFill>
                <a:highlight>
                  <a:srgbClr val="FFFFFF"/>
                </a:highlight>
                <a:latin typeface="Montserrat"/>
                <a:ea typeface="Montserrat"/>
                <a:cs typeface="Montserrat"/>
                <a:sym typeface="Montserrat"/>
              </a:rPr>
              <a:t> şəkildə tərtib edin.</a:t>
            </a:r>
            <a:endParaRPr sz="18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833AE0"/>
      </a:accent1>
      <a:accent2>
        <a:srgbClr val="FF7842"/>
      </a:accent2>
      <a:accent3>
        <a:srgbClr val="88DBF2"/>
      </a:accent3>
      <a:accent4>
        <a:srgbClr val="38BD60"/>
      </a:accent4>
      <a:accent5>
        <a:srgbClr val="FA82CC"/>
      </a:accent5>
      <a:accent6>
        <a:srgbClr val="FFDC40"/>
      </a:accent6>
      <a:hlink>
        <a:srgbClr val="833AE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582</TotalTime>
  <Words>1111</Words>
  <Application>Microsoft Office PowerPoint</Application>
  <PresentationFormat>On-screen Show (16:9)</PresentationFormat>
  <Paragraphs>142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Montserrat</vt:lpstr>
      <vt:lpstr>Times New Roman</vt:lpstr>
      <vt:lpstr>Montserrat ExtraBold</vt:lpstr>
      <vt:lpstr>Consolas</vt:lpstr>
      <vt:lpstr>Arial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Rahim Huseynov</cp:lastModifiedBy>
  <cp:revision>7</cp:revision>
  <dcterms:modified xsi:type="dcterms:W3CDTF">2026-09-15T17:13:41Z</dcterms:modified>
</cp:coreProperties>
</file>